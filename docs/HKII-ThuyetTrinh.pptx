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8476853-b0a5-0cd2-472f-12fa1539789e}">
          <p14:sldIdLst>
            <p14:sldId id="256"/>
            <p14:sldId id="257"/>
            <p14:sldId id="258"/>
          </p14:sldIdLst>
        </p14:section>
        <p14:section name="Thiết kế" id="{096d3582-fba0-5802-aa3e-b8ce080654b1}">
          <p14:sldIdLst>
            <p14:sldId id="259"/>
            <p14:sldId id="260"/>
            <p14:sldId id="261"/>
            <p14:sldId id="262"/>
          </p14:sldIdLst>
        </p14:section>
        <p14:section name="Demo" id="{a5870ed6-b879-bea3-1490-8997737d50b3}">
          <p14:sldIdLst>
            <p14:sldId id="263"/>
            <p14:sldId id="264"/>
            <p14:sldId id="265"/>
            <p14:sldId id="266"/>
            <p14:sldId id="267"/>
            <p14:sldId id="268"/>
          </p14:sldIdLst>
        </p14:section>
        <p14:section name="Triển khai" id="{c96c8993-eb92-93ed-d52e-9737d73b33b9}">
          <p14:sldIdLst>
            <p14:sldId id="269"/>
            <p14:sldId id="270"/>
          </p14:sldIdLst>
        </p14:section>
        <p14:section name="Kết luận" id="{76423387-1dcd-8502-273a-78314aa5791d}">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thầy/cô và các bạn. Em xin trình bày đồ án HKII: hệ thống quản lý trung tâm, với backend viết bằng FastAPI, dữ liệu lưu trong PostgreSQL và toàn bộ chạy bằng Docker. Ảnh bên phải là màn hình báo cáo lớp thật của hệ thống, em sẽ demo ở các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một trung tâm cần quản lý lớp, điểm danh, điểm số, học phí cho bốn nhóm người dùng. Hướng làm của em: viết lại backend thành REST API bằng FastAPI, dùng PostgreSQL vì dữ liệu có quan hệ rõ ràng, và đóng gói bằng Docker để ai cũng chạy được. Phần AI và báo cáo viết bằng Python. Kết quả là 5 module chạy trọn từ giao diện đến cơ sở dữ liệu. Hệ thống tham khảo trước đây dùng Firebase Realtime Database; em chỉ lấy ý tưởng nghiệp vụ, toàn bộ code và dữ liệu mẫu là mới và là dữ liệu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5 module. Một: đăng nhập và phân quyền bằng JWT với bốn vai trò. Hai: lớp học. Ba: điểm danh và điểm số, kèm báo cáo xuất Excel. Bốn: học phí. Năm: AI Coach nhận xét bài viết. Em chọn 5 module này vì chúng liên quan chặt với nhau và đủ để minh họa một vòng nghiệp vụ hoàn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gồm ba container. Trình duyệt vào nginx ở cổng 8080, nginx phục vụ giao diện React và chuyển mọi yêu cầu bắt đầu bằng /api sang FastAPI. FastAPI dùng SQLAlchemy nói chuyện với PostgreSQL. Riêng AI Coach, nếu có khóa Gemini thì gọi Gemini, không có thì dùng bộ nhận xét theo luật. Dữ liệu nằm trong volume pgdata nên tắt bật container không mất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dùng FastAPI với SQLAlchemy 2.0 và Pydantic để kiểm tra dữ liệu; mật khẩu băm bằng bcrypt, phiên đăng nhập là JWT; báo cáo dùng pandas và openpyxl. Cơ sở dữ liệu PostgreSQL 16, thay đổi cấu trúc quản lý bằng Alembic. Giao diện React 19, Vite, Tailwind. Vận hành bằng Docker Compose, nginx, và 15 test chạy bằng pytest.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có 8 bảng. Bảng users chứa cả 4 vai trò. Một lớp có nhiều học viên, một học viên học nhiều lớp, nên em có bảng trung gian enrollments. Điểm danh và điểm số đều tham chiếu đến cả lớp lẫn học viên. Em dùng ràng buộc duy nhất để không thể điểm danh trùng một học viên trong cùng ngày của một lớp. Ba bảng phụ ở dưới là học phí, lịch sử AI Coach và liên kết phụ huynh với học viên. Đây chính là lý do em chọn cơ sở dữ liệu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bên trái là ma trận phân quyền. Admin quản lý toàn bộ. Giáo viên chỉ thấy và điểm danh lớp mình phụ trách, và không xem được học phí. Học viên xem dữ liệu của chính mình, phụ huynh xem dữ liệu của con. Quan trọng là các quyền này được kiểm tra ở backend, không chỉ ẩn nút trên giao diện. Về bảo mật: mật khẩu băm bcrypt, đăng nhập trả JWT hết hạn sau 8 giờ, khóa tạm 15 phút sau 5 lần sai, và thông báo lỗi gộp chung để người ngoài không dò được tài khoản nào tồn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đăng nhập giáo viên gv.lan, mở lớp IELTS-A1, tab Điểm danh. Em đổi một học viên sang Vắng và bấm Lưu. Nếu em lưu lại lần nữa trong cùng ngày thì hệ thống cập nhật chứ không tạo bản ghi trùng, nhờ ràng buộc duy nhất trong cơ sở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tab Báo cáo. Hệ thống tính số buổi, tỷ lệ chuyên cần và điểm trung bình quy về thang 10 cho từng học viên bằng pandas. Bấm Xuất Excel để tải file .xlsx. Tỷ lệ chuyên cần tính bằng (có mặt + đi trễ) chia cho tổng số buổi trừ buổi vắng có phép.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đăng nhập phụ huynh ph.an. Chỉ thấy chuyên cần và điểm của con là hv01. Nếu cố gọi API cho học viên khác thì bị chặn 403. Học viên dùng cùng màn hình này nhưng chỉ thấy dữ liệu của chính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đăng nhập admin, mở Học phí. Ba thẻ trên cùng tổng hợp chưa đóng, quá hạn, đã thu. Nút Đánh dấu quá hạn chuyển các khoản chưa đóng đã quá hạn sang trạng thái quá hạn. Có thể xuất Excel báo cáo học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đăng nhập học viên hv01, mở AI Coach, dán một đoạn văn tiếng Anh rồi bấm Nhận xét. Hiện tại chưa cấu hình khóa Gemini nên hệ thống dùng bộ nhận xét theo luật (đếm từ, độ dài câu, từ lặp). Nếu có GEMINI_API_KEY thì tự gọi Gemini; nếu Gemini lỗi thì tự rơi về bộ nhận xét theo luật để buổi demo không bao giờ bị đứng.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tự sinh tài liệu OpenAPI, nên em có trang Swagger ở /docs, vừa là tài liệu vừa để thử API trực tiếp. Hiện có 36 thao tác API trên 27 đường dẫn, chia theo 8 nhóm: auth, users, classes, attendance, scores, tuition, reports,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chạy: clone repo, sao chép .env.example thành .env, rồi docker compose up --build. Container db là PostgreSQL có healthcheck; api chỉ khởi động sau khi db sẵn sàng, tự chạy migration Alembic rồi mới bật uvicorn và nạp dữ liệu mẫu nếu cơ sở dữ liệu trống; web là nginx phục vụ giao diện React. Một lệnh là có đủ hệ thống, kể cả trên máy chưa cài Python hay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có 15 test tự động bằng pytest, đều đạt. Các test bao phủ những tình huống quan trọng: khóa tài khoản, phân quyền, điểm danh không trùng, kiểm tra điểm hợp lệ, học phí quá hạn, báo cáo Excel và AI Coach dự phòng. Em nói thẳng một hạn chế: test chạy trên SQLite cho nhanh, còn PostgreSQL em kiểm bằng migration và chạy thử API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nhìn nhận các hạn chế một cách thẳng thắn. Hiện JWT đang lưu ở localStorage nên có rủi ro XSS và chưa có refresh token; chưa có test giao diện và CI; giao diện chưa có màn đổi mật khẩu và liên kết phụ huynh dù API đã có. Hướng phát triển: chuyển sang cookie HttpOnly, thêm CI, mở rộng module chat và thông báo, và vì API không giữ trạng thái nên có thể chạy nhiều bản sao hoặc đưa lên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cảm ơn thầy/cô và các bạn. Em sẵn sàng trả lời câu hỏi. Mã nguồn và hướng dẫn chạy nằm trong repo GitHub, file docs/HUONG-DAN-CHAY.md có kịch bản demo và danh sách câu hỏi thường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53949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03320"/>
            <a:ext cx="539496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HKII  ·  FastAPI + PostgreSQL + Docker</a:t>
            </a:r>
            <a:endParaRPr lang="en-US" sz="10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234440"/>
            <a:ext cx="5394960" cy="365760"/>
          </a:xfrm>
          <a:prstGeom prst="rect">
            <a:avLst/>
          </a:prstGeom>
          <a:noFill/>
          <a:ln/>
        </p:spPr>
        <p:txBody>
          <a:bodyPr wrap="square" lIns="0" tIns="0" rIns="0" bIns="0" rtlCol="0" anchor="t"/>
          <a:lstStyle/>
          <a:p>
            <a:pPr indent="0" marL="0">
              <a:buNone/>
            </a:pPr>
            <a:r>
              <a:rPr lang="en-US" sz="1600" b="1" spc="400" kern="0" dirty="0">
                <a:solidFill>
                  <a:schemeClr val="bg2"/>
                </a:solidFill>
              </a:rPr>
              <a:t>ĐỒ ÁN CUỐI KỲ</a:t>
            </a:r>
            <a:endParaRPr lang="en-US" sz="1600" dirty="0"/>
          </a:p>
        </p:txBody>
      </p:sp>
      <p:sp>
        <p:nvSpPr>
          <p:cNvPr id="3" name="Text 0"/>
          <p:cNvSpPr/>
          <p:nvPr>
            <p:ph idx="100" type="title" hasCustomPrompt="1"/>
          </p:nvPr>
        </p:nvSpPr>
        <p:spPr>
          <a:xfrm>
            <a:off x="731520" y="1828800"/>
            <a:ext cx="5394960" cy="1737360"/>
          </a:xfrm>
          <a:prstGeom prst="rect">
            <a:avLst/>
          </a:prstGeom>
          <a:noFill/>
          <a:ln/>
        </p:spPr>
        <p:txBody>
          <a:bodyPr wrap="square" lIns="0" tIns="0" rIns="0" bIns="0" rtlCol="0" anchor="t"/>
          <a:lstStyle/>
          <a:p>
            <a:pPr algn="l" indent="0" marL="0">
              <a:buNone/>
            </a:pPr>
            <a:r>
              <a:rPr lang="en-US" sz="4400" b="1" dirty="0">
                <a:solidFill>
                  <a:schemeClr val="bg1"/>
                </a:solidFill>
              </a:rPr>
              <a:t>HKII: Hệ thống quản lý trung tâm</a:t>
            </a:r>
            <a:endParaRPr lang="en-US" sz="4400" dirty="0"/>
          </a:p>
        </p:txBody>
      </p:sp>
      <p:sp>
        <p:nvSpPr>
          <p:cNvPr id="4" name="Text 0"/>
          <p:cNvSpPr/>
          <p:nvPr>
            <p:ph idx="101" type="body" hasCustomPrompt="1"/>
          </p:nvPr>
        </p:nvSpPr>
        <p:spPr>
          <a:xfrm>
            <a:off x="731520" y="3703320"/>
            <a:ext cx="5394960" cy="1097280"/>
          </a:xfrm>
          <a:prstGeom prst="rect">
            <a:avLst/>
          </a:prstGeom>
          <a:noFill/>
          <a:ln/>
        </p:spPr>
        <p:txBody>
          <a:bodyPr wrap="square" lIns="0" tIns="0" rIns="0" bIns="0" rtlCol="0" anchor="t"/>
          <a:lstStyle/>
          <a:p>
            <a:pPr algn="l" indent="0" marL="0">
              <a:buNone/>
            </a:pPr>
            <a:r>
              <a:rPr lang="en-US" sz="2000" dirty="0">
                <a:solidFill>
                  <a:schemeClr val="bg2"/>
                </a:solidFill>
              </a:rPr>
              <a:t>Backend viết lại bằng FastAPI, dữ liệu trong PostgreSQL, đóng gói bằng Docker</a:t>
            </a:r>
            <a:endParaRPr lang="en-US" sz="2000" dirty="0"/>
          </a:p>
        </p:txBody>
      </p:sp>
      <p:sp>
        <p:nvSpPr>
          <p:cNvPr id="5" name="Text 3"/>
          <p:cNvSpPr txBox="1"/>
          <p:nvPr/>
        </p:nvSpPr>
        <p:spPr>
          <a:xfrm>
            <a:off x="731520" y="5760720"/>
            <a:ext cx="5394960" cy="365760"/>
          </a:xfrm>
          <a:prstGeom prst="rect">
            <a:avLst/>
          </a:prstGeom>
          <a:noFill/>
          <a:ln/>
        </p:spPr>
        <p:txBody>
          <a:bodyPr wrap="square" lIns="0" tIns="0" rIns="0" bIns="0" rtlCol="0" anchor="t"/>
          <a:lstStyle/>
          <a:p>
            <a:pPr indent="0" marL="0">
              <a:buNone/>
            </a:pPr>
            <a:r>
              <a:rPr lang="en-US" sz="1600" b="1" dirty="0">
                <a:solidFill>
                  <a:schemeClr val="bg1"/>
                </a:solidFill>
              </a:rPr>
              <a:t>La Vi Quyen</a:t>
            </a:r>
            <a:endParaRPr lang="en-US" sz="1600" dirty="0"/>
          </a:p>
        </p:txBody>
      </p:sp>
      <p:sp>
        <p:nvSpPr>
          <p:cNvPr id="6" name="Khung ảnh"/>
          <p:cNvSpPr/>
          <p:nvPr/>
        </p:nvSpPr>
        <p:spPr>
          <a:xfrm>
            <a:off x="6291072" y="1947672"/>
            <a:ext cx="5431536" cy="3111246"/>
          </a:xfrm>
          <a:prstGeom prst="roundRect">
            <a:avLst>
              <a:gd name="adj" fmla="val 2939"/>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pic>
        <p:nvPicPr>
          <p:cNvPr id="7" name="Ảnh: Màn hình báo cáo lớp của giáo viên" descr="Màn hình báo cáo lớp của giáo viên">    </p:cNvPr>
          <p:cNvPicPr>
            <a:picLocks noChangeAspect="1"/>
          </p:cNvPicPr>
          <p:nvPr/>
        </p:nvPicPr>
        <p:blipFill>
          <a:blip r:embed="rId1"/>
          <a:stretch>
            <a:fillRect/>
          </a:stretch>
        </p:blipFill>
        <p:spPr>
          <a:xfrm>
            <a:off x="6355080" y="2011680"/>
            <a:ext cx="5303520" cy="29832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Bối cảnh và mục tiêu</a:t>
            </a:r>
            <a:endParaRPr lang="en-US" sz="3400" dirty="0"/>
          </a:p>
        </p:txBody>
      </p:sp>
      <p:sp>
        <p:nvSpPr>
          <p:cNvPr id="3" name="Thẻ Bài toán"/>
          <p:cNvSpPr/>
          <p:nvPr/>
        </p:nvSpPr>
        <p:spPr>
          <a:xfrm>
            <a:off x="548640" y="1691640"/>
            <a:ext cx="3566160" cy="4297680"/>
          </a:xfrm>
          <a:prstGeom prst="roundRect">
            <a:avLst>
              <a:gd name="adj" fmla="val 307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4" name="Biểu tượng Bài toán nền"/>
          <p:cNvSpPr/>
          <p:nvPr/>
        </p:nvSpPr>
        <p:spPr>
          <a:xfrm>
            <a:off x="868680" y="2011680"/>
            <a:ext cx="777240" cy="777240"/>
          </a:xfrm>
          <a:prstGeom prst="ellipse">
            <a:avLst/>
          </a:prstGeom>
          <a:solidFill>
            <a:schemeClr val="accent1"/>
          </a:solidFill>
          <a:ln w="12700">
            <a:solidFill>
              <a:schemeClr val="accent1"/>
            </a:solidFill>
            <a:prstDash val="solid"/>
          </a:ln>
        </p:spPr>
      </p:sp>
      <p:pic>
        <p:nvPicPr>
          <p:cNvPr id="5" name="Biểu tượng Bài toán" descr="FaBullseye">    </p:cNvPr>
          <p:cNvPicPr>
            <a:picLocks noChangeAspect="1"/>
          </p:cNvPicPr>
          <p:nvPr/>
        </p:nvPicPr>
        <p:blipFill>
          <a:blip r:embed="rId1"/>
          <a:stretch>
            <a:fillRect/>
          </a:stretch>
        </p:blipFill>
        <p:spPr>
          <a:xfrm>
            <a:off x="1078535" y="2221535"/>
            <a:ext cx="357530" cy="357530"/>
          </a:xfrm>
          <a:prstGeom prst="rect">
            <a:avLst/>
          </a:prstGeom>
        </p:spPr>
      </p:pic>
      <p:sp>
        <p:nvSpPr>
          <p:cNvPr id="6" name="Text 3"/>
          <p:cNvSpPr txBox="1"/>
          <p:nvPr/>
        </p:nvSpPr>
        <p:spPr>
          <a:xfrm>
            <a:off x="868680" y="30175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Bài toán</a:t>
            </a:r>
            <a:endParaRPr lang="en-US" sz="2400" dirty="0"/>
          </a:p>
        </p:txBody>
      </p:sp>
      <p:sp>
        <p:nvSpPr>
          <p:cNvPr id="7" name="Text 4"/>
          <p:cNvSpPr txBox="1"/>
          <p:nvPr/>
        </p:nvSpPr>
        <p:spPr>
          <a:xfrm>
            <a:off x="868680" y="3611880"/>
            <a:ext cx="2926080" cy="2194560"/>
          </a:xfrm>
          <a:prstGeom prst="rect">
            <a:avLst/>
          </a:prstGeom>
          <a:noFill/>
          <a:ln/>
        </p:spPr>
        <p:txBody>
          <a:bodyPr wrap="square" lIns="0" tIns="0" rIns="0" bIns="0" rtlCol="0" anchor="t"/>
          <a:lstStyle/>
          <a:p>
            <a:pPr indent="0" marL="0">
              <a:buNone/>
            </a:pPr>
            <a:r>
              <a:rPr lang="en-US" sz="1800" dirty="0">
                <a:solidFill>
                  <a:schemeClr val="tx1"/>
                </a:solidFill>
              </a:rPr>
              <a:t>Trung tâm cần quản lý lớp học, điểm danh, điểm số và học phí cho 4 nhóm người dùng: quản trị viên, giáo viên, học viên và phụ huynh.</a:t>
            </a:r>
            <a:endParaRPr lang="en-US" sz="1800" dirty="0"/>
          </a:p>
        </p:txBody>
      </p:sp>
      <p:sp>
        <p:nvSpPr>
          <p:cNvPr id="8" name="Thẻ Hướng tiếp cận"/>
          <p:cNvSpPr/>
          <p:nvPr/>
        </p:nvSpPr>
        <p:spPr>
          <a:xfrm>
            <a:off x="4297680" y="1691640"/>
            <a:ext cx="3566160" cy="4297680"/>
          </a:xfrm>
          <a:prstGeom prst="roundRect">
            <a:avLst>
              <a:gd name="adj" fmla="val 307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9" name="Biểu tượng Hướng tiếp cận nền"/>
          <p:cNvSpPr/>
          <p:nvPr/>
        </p:nvSpPr>
        <p:spPr>
          <a:xfrm>
            <a:off x="4617720" y="2011680"/>
            <a:ext cx="777240" cy="777240"/>
          </a:xfrm>
          <a:prstGeom prst="ellipse">
            <a:avLst/>
          </a:prstGeom>
          <a:solidFill>
            <a:schemeClr val="accent3"/>
          </a:solidFill>
          <a:ln w="12700">
            <a:solidFill>
              <a:schemeClr val="accent3"/>
            </a:solidFill>
            <a:prstDash val="solid"/>
          </a:ln>
        </p:spPr>
      </p:sp>
      <p:pic>
        <p:nvPicPr>
          <p:cNvPr id="10" name="Biểu tượng Hướng tiếp cận" descr="FaLightbulb">    </p:cNvPr>
          <p:cNvPicPr>
            <a:picLocks noChangeAspect="1"/>
          </p:cNvPicPr>
          <p:nvPr/>
        </p:nvPicPr>
        <p:blipFill>
          <a:blip r:embed="rId2"/>
          <a:stretch>
            <a:fillRect/>
          </a:stretch>
        </p:blipFill>
        <p:spPr>
          <a:xfrm>
            <a:off x="4827575" y="2221535"/>
            <a:ext cx="357530" cy="357530"/>
          </a:xfrm>
          <a:prstGeom prst="rect">
            <a:avLst/>
          </a:prstGeom>
        </p:spPr>
      </p:pic>
      <p:sp>
        <p:nvSpPr>
          <p:cNvPr id="11" name="Text 7"/>
          <p:cNvSpPr txBox="1"/>
          <p:nvPr/>
        </p:nvSpPr>
        <p:spPr>
          <a:xfrm>
            <a:off x="4617720" y="30175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Hướng tiếp cận</a:t>
            </a:r>
            <a:endParaRPr lang="en-US" sz="2400" dirty="0"/>
          </a:p>
        </p:txBody>
      </p:sp>
      <p:sp>
        <p:nvSpPr>
          <p:cNvPr id="12" name="Text 8"/>
          <p:cNvSpPr txBox="1"/>
          <p:nvPr/>
        </p:nvSpPr>
        <p:spPr>
          <a:xfrm>
            <a:off x="4617720" y="3611880"/>
            <a:ext cx="2926080" cy="2194560"/>
          </a:xfrm>
          <a:prstGeom prst="rect">
            <a:avLst/>
          </a:prstGeom>
          <a:noFill/>
          <a:ln/>
        </p:spPr>
        <p:txBody>
          <a:bodyPr wrap="square" lIns="0" tIns="0" rIns="0" bIns="0" rtlCol="0" anchor="t"/>
          <a:lstStyle/>
          <a:p>
            <a:pPr indent="0" marL="0">
              <a:buNone/>
            </a:pPr>
            <a:r>
              <a:rPr lang="en-US" sz="1800" dirty="0">
                <a:solidFill>
                  <a:schemeClr val="tx1"/>
                </a:solidFill>
              </a:rPr>
              <a:t>Viết lại backend thành REST API bằng FastAPI, dữ liệu quan hệ trong PostgreSQL, đóng gói bằng Docker. Phần AI và báo cáo viết bằng Python.</a:t>
            </a:r>
            <a:endParaRPr lang="en-US" sz="1800" dirty="0"/>
          </a:p>
        </p:txBody>
      </p:sp>
      <p:sp>
        <p:nvSpPr>
          <p:cNvPr id="13" name="Thẻ Kết quả"/>
          <p:cNvSpPr/>
          <p:nvPr/>
        </p:nvSpPr>
        <p:spPr>
          <a:xfrm>
            <a:off x="8046720" y="1691640"/>
            <a:ext cx="3566160" cy="4297680"/>
          </a:xfrm>
          <a:prstGeom prst="roundRect">
            <a:avLst>
              <a:gd name="adj" fmla="val 307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4" name="Biểu tượng Kết quả nền"/>
          <p:cNvSpPr/>
          <p:nvPr/>
        </p:nvSpPr>
        <p:spPr>
          <a:xfrm>
            <a:off x="8366760" y="2011680"/>
            <a:ext cx="777240" cy="777240"/>
          </a:xfrm>
          <a:prstGeom prst="ellipse">
            <a:avLst/>
          </a:prstGeom>
          <a:solidFill>
            <a:schemeClr val="accent2"/>
          </a:solidFill>
          <a:ln w="12700">
            <a:solidFill>
              <a:schemeClr val="accent2"/>
            </a:solidFill>
            <a:prstDash val="solid"/>
          </a:ln>
        </p:spPr>
      </p:sp>
      <p:pic>
        <p:nvPicPr>
          <p:cNvPr id="15" name="Biểu tượng Kết quả" descr="FaRocket">    </p:cNvPr>
          <p:cNvPicPr>
            <a:picLocks noChangeAspect="1"/>
          </p:cNvPicPr>
          <p:nvPr/>
        </p:nvPicPr>
        <p:blipFill>
          <a:blip r:embed="rId3"/>
          <a:stretch>
            <a:fillRect/>
          </a:stretch>
        </p:blipFill>
        <p:spPr>
          <a:xfrm>
            <a:off x="8576615" y="2221535"/>
            <a:ext cx="357530" cy="357530"/>
          </a:xfrm>
          <a:prstGeom prst="rect">
            <a:avLst/>
          </a:prstGeom>
        </p:spPr>
      </p:pic>
      <p:sp>
        <p:nvSpPr>
          <p:cNvPr id="16" name="Text 11"/>
          <p:cNvSpPr txBox="1"/>
          <p:nvPr/>
        </p:nvSpPr>
        <p:spPr>
          <a:xfrm>
            <a:off x="8366760" y="3017520"/>
            <a:ext cx="292608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Kết quả</a:t>
            </a:r>
            <a:endParaRPr lang="en-US" sz="2400" dirty="0"/>
          </a:p>
        </p:txBody>
      </p:sp>
      <p:sp>
        <p:nvSpPr>
          <p:cNvPr id="17" name="Text 12"/>
          <p:cNvSpPr txBox="1"/>
          <p:nvPr/>
        </p:nvSpPr>
        <p:spPr>
          <a:xfrm>
            <a:off x="8366760" y="3611880"/>
            <a:ext cx="2926080" cy="2194560"/>
          </a:xfrm>
          <a:prstGeom prst="rect">
            <a:avLst/>
          </a:prstGeom>
          <a:noFill/>
          <a:ln/>
        </p:spPr>
        <p:txBody>
          <a:bodyPr wrap="square" lIns="0" tIns="0" rIns="0" bIns="0" rtlCol="0" anchor="t"/>
          <a:lstStyle/>
          <a:p>
            <a:pPr indent="0" marL="0">
              <a:buNone/>
            </a:pPr>
            <a:r>
              <a:rPr lang="en-US" sz="1800" dirty="0">
                <a:solidFill>
                  <a:schemeClr val="tx1"/>
                </a:solidFill>
              </a:rPr>
              <a:t>5 module chạy trọn từ giao diện đến cơ sở dữ liệu. Một lệnh docker compose up là chạy được toàn bộ hệ thống.</a:t>
            </a:r>
            <a:endParaRPr lang="en-US" sz="18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5 module của hệ thống</a:t>
            </a:r>
            <a:endParaRPr lang="en-US" sz="3400" dirty="0"/>
          </a:p>
        </p:txBody>
      </p:sp>
      <p:sp>
        <p:nvSpPr>
          <p:cNvPr id="3" name="Thẻ Đăng nhập và phân quyền"/>
          <p:cNvSpPr/>
          <p:nvPr/>
        </p:nvSpPr>
        <p:spPr>
          <a:xfrm>
            <a:off x="548640" y="1691640"/>
            <a:ext cx="2103120" cy="4297680"/>
          </a:xfrm>
          <a:prstGeom prst="roundRect">
            <a:avLst>
              <a:gd name="adj" fmla="val 521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4" name="Biểu tượng Đăng nhập và phân quyền nền"/>
          <p:cNvSpPr/>
          <p:nvPr/>
        </p:nvSpPr>
        <p:spPr>
          <a:xfrm>
            <a:off x="822960" y="1965960"/>
            <a:ext cx="731520" cy="731520"/>
          </a:xfrm>
          <a:prstGeom prst="ellipse">
            <a:avLst/>
          </a:prstGeom>
          <a:solidFill>
            <a:schemeClr val="accent1"/>
          </a:solidFill>
          <a:ln w="12700">
            <a:solidFill>
              <a:schemeClr val="accent1"/>
            </a:solidFill>
            <a:prstDash val="solid"/>
          </a:ln>
        </p:spPr>
      </p:sp>
      <p:pic>
        <p:nvPicPr>
          <p:cNvPr id="5" name="Biểu tượng Đăng nhập và phân quyền" descr="FaUserShield">    </p:cNvPr>
          <p:cNvPicPr>
            <a:picLocks noChangeAspect="1"/>
          </p:cNvPicPr>
          <p:nvPr/>
        </p:nvPicPr>
        <p:blipFill>
          <a:blip r:embed="rId1"/>
          <a:stretch>
            <a:fillRect/>
          </a:stretch>
        </p:blipFill>
        <p:spPr>
          <a:xfrm>
            <a:off x="1020470" y="2163470"/>
            <a:ext cx="336499" cy="336499"/>
          </a:xfrm>
          <a:prstGeom prst="rect">
            <a:avLst/>
          </a:prstGeom>
        </p:spPr>
      </p:pic>
      <p:sp>
        <p:nvSpPr>
          <p:cNvPr id="6" name="Text 3"/>
          <p:cNvSpPr txBox="1"/>
          <p:nvPr/>
        </p:nvSpPr>
        <p:spPr>
          <a:xfrm>
            <a:off x="1965960" y="1965960"/>
            <a:ext cx="457200" cy="731520"/>
          </a:xfrm>
          <a:prstGeom prst="rect">
            <a:avLst/>
          </a:prstGeom>
          <a:noFill/>
          <a:ln/>
        </p:spPr>
        <p:txBody>
          <a:bodyPr wrap="square" lIns="0" tIns="0" rIns="0" bIns="0" rtlCol="0" anchor="t"/>
          <a:lstStyle/>
          <a:p>
            <a:pPr algn="r" indent="0" marL="0">
              <a:buNone/>
            </a:pPr>
            <a:r>
              <a:rPr lang="en-US" sz="4000" b="1" dirty="0">
                <a:solidFill>
                  <a:srgbClr val="CBD5E1"/>
                </a:solidFill>
                <a:latin typeface="Cambria" pitchFamily="34" charset="0"/>
                <a:ea typeface="Cambria" pitchFamily="34" charset="-122"/>
                <a:cs typeface="Cambria" pitchFamily="34" charset="-120"/>
              </a:rPr>
              <a:t>1</a:t>
            </a:r>
            <a:endParaRPr lang="en-US" sz="4000" dirty="0"/>
          </a:p>
        </p:txBody>
      </p:sp>
      <p:sp>
        <p:nvSpPr>
          <p:cNvPr id="7" name="Text 4"/>
          <p:cNvSpPr txBox="1"/>
          <p:nvPr/>
        </p:nvSpPr>
        <p:spPr>
          <a:xfrm>
            <a:off x="822960" y="2926080"/>
            <a:ext cx="1600200" cy="914400"/>
          </a:xfrm>
          <a:prstGeom prst="rect">
            <a:avLst/>
          </a:prstGeom>
          <a:noFill/>
          <a:ln/>
        </p:spPr>
        <p:txBody>
          <a:bodyPr wrap="square" lIns="0" tIns="0" rIns="0" bIns="0" rtlCol="0" anchor="t"/>
          <a:lstStyle/>
          <a:p>
            <a:pPr indent="0" marL="0">
              <a:buNone/>
            </a:pPr>
            <a:r>
              <a:rPr lang="en-US" sz="1800" b="1" dirty="0">
                <a:solidFill>
                  <a:schemeClr val="tx2"/>
                </a:solidFill>
              </a:rPr>
              <a:t>Đăng nhập và phân quyền</a:t>
            </a:r>
            <a:endParaRPr lang="en-US" sz="1800" dirty="0"/>
          </a:p>
        </p:txBody>
      </p:sp>
      <p:sp>
        <p:nvSpPr>
          <p:cNvPr id="8" name="Text 5"/>
          <p:cNvSpPr txBox="1"/>
          <p:nvPr/>
        </p:nvSpPr>
        <p:spPr>
          <a:xfrm>
            <a:off x="822960" y="3977640"/>
            <a:ext cx="1600200" cy="1828800"/>
          </a:xfrm>
          <a:prstGeom prst="rect">
            <a:avLst/>
          </a:prstGeom>
          <a:noFill/>
          <a:ln/>
        </p:spPr>
        <p:txBody>
          <a:bodyPr wrap="square" lIns="0" tIns="0" rIns="0" bIns="0" rtlCol="0" anchor="t"/>
          <a:lstStyle/>
          <a:p>
            <a:pPr indent="0" marL="0">
              <a:buNone/>
            </a:pPr>
            <a:r>
              <a:rPr lang="en-US" sz="1500" dirty="0">
                <a:solidFill>
                  <a:schemeClr val="tx1"/>
                </a:solidFill>
              </a:rPr>
              <a:t>JWT, 4 vai trò, khóa tạm khi nhập sai nhiều lần</a:t>
            </a:r>
            <a:endParaRPr lang="en-US" sz="1500" dirty="0"/>
          </a:p>
        </p:txBody>
      </p:sp>
      <p:sp>
        <p:nvSpPr>
          <p:cNvPr id="9" name="Thẻ Lớp học"/>
          <p:cNvSpPr/>
          <p:nvPr/>
        </p:nvSpPr>
        <p:spPr>
          <a:xfrm>
            <a:off x="2798064" y="1691640"/>
            <a:ext cx="2103120" cy="4297680"/>
          </a:xfrm>
          <a:prstGeom prst="roundRect">
            <a:avLst>
              <a:gd name="adj" fmla="val 521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0" name="Biểu tượng Lớp học nền"/>
          <p:cNvSpPr/>
          <p:nvPr/>
        </p:nvSpPr>
        <p:spPr>
          <a:xfrm>
            <a:off x="3072384" y="1965960"/>
            <a:ext cx="731520" cy="731520"/>
          </a:xfrm>
          <a:prstGeom prst="ellipse">
            <a:avLst/>
          </a:prstGeom>
          <a:solidFill>
            <a:schemeClr val="accent5"/>
          </a:solidFill>
          <a:ln w="12700">
            <a:solidFill>
              <a:schemeClr val="accent5"/>
            </a:solidFill>
            <a:prstDash val="solid"/>
          </a:ln>
        </p:spPr>
      </p:sp>
      <p:pic>
        <p:nvPicPr>
          <p:cNvPr id="11" name="Biểu tượng Lớp học" descr="FaChalkboardTeacher">    </p:cNvPr>
          <p:cNvPicPr>
            <a:picLocks noChangeAspect="1"/>
          </p:cNvPicPr>
          <p:nvPr/>
        </p:nvPicPr>
        <p:blipFill>
          <a:blip r:embed="rId2"/>
          <a:stretch>
            <a:fillRect/>
          </a:stretch>
        </p:blipFill>
        <p:spPr>
          <a:xfrm>
            <a:off x="3269894" y="2163470"/>
            <a:ext cx="336499" cy="336499"/>
          </a:xfrm>
          <a:prstGeom prst="rect">
            <a:avLst/>
          </a:prstGeom>
        </p:spPr>
      </p:pic>
      <p:sp>
        <p:nvSpPr>
          <p:cNvPr id="12" name="Text 8"/>
          <p:cNvSpPr txBox="1"/>
          <p:nvPr/>
        </p:nvSpPr>
        <p:spPr>
          <a:xfrm>
            <a:off x="4215384" y="1965960"/>
            <a:ext cx="457200" cy="731520"/>
          </a:xfrm>
          <a:prstGeom prst="rect">
            <a:avLst/>
          </a:prstGeom>
          <a:noFill/>
          <a:ln/>
        </p:spPr>
        <p:txBody>
          <a:bodyPr wrap="square" lIns="0" tIns="0" rIns="0" bIns="0" rtlCol="0" anchor="t"/>
          <a:lstStyle/>
          <a:p>
            <a:pPr algn="r" indent="0" marL="0">
              <a:buNone/>
            </a:pPr>
            <a:r>
              <a:rPr lang="en-US" sz="4000" b="1" dirty="0">
                <a:solidFill>
                  <a:srgbClr val="CBD5E1"/>
                </a:solidFill>
                <a:latin typeface="Cambria" pitchFamily="34" charset="0"/>
                <a:ea typeface="Cambria" pitchFamily="34" charset="-122"/>
                <a:cs typeface="Cambria" pitchFamily="34" charset="-120"/>
              </a:rPr>
              <a:t>2</a:t>
            </a:r>
            <a:endParaRPr lang="en-US" sz="4000" dirty="0"/>
          </a:p>
        </p:txBody>
      </p:sp>
      <p:sp>
        <p:nvSpPr>
          <p:cNvPr id="13" name="Text 9"/>
          <p:cNvSpPr txBox="1"/>
          <p:nvPr/>
        </p:nvSpPr>
        <p:spPr>
          <a:xfrm>
            <a:off x="3072384" y="2926080"/>
            <a:ext cx="1600200" cy="914400"/>
          </a:xfrm>
          <a:prstGeom prst="rect">
            <a:avLst/>
          </a:prstGeom>
          <a:noFill/>
          <a:ln/>
        </p:spPr>
        <p:txBody>
          <a:bodyPr wrap="square" lIns="0" tIns="0" rIns="0" bIns="0" rtlCol="0" anchor="t"/>
          <a:lstStyle/>
          <a:p>
            <a:pPr indent="0" marL="0">
              <a:buNone/>
            </a:pPr>
            <a:r>
              <a:rPr lang="en-US" sz="1800" b="1" dirty="0">
                <a:solidFill>
                  <a:schemeClr val="tx2"/>
                </a:solidFill>
              </a:rPr>
              <a:t>Lớp học</a:t>
            </a:r>
            <a:endParaRPr lang="en-US" sz="1800" dirty="0"/>
          </a:p>
        </p:txBody>
      </p:sp>
      <p:sp>
        <p:nvSpPr>
          <p:cNvPr id="14" name="Text 10"/>
          <p:cNvSpPr txBox="1"/>
          <p:nvPr/>
        </p:nvSpPr>
        <p:spPr>
          <a:xfrm>
            <a:off x="3072384" y="3977640"/>
            <a:ext cx="1600200" cy="1828800"/>
          </a:xfrm>
          <a:prstGeom prst="rect">
            <a:avLst/>
          </a:prstGeom>
          <a:noFill/>
          <a:ln/>
        </p:spPr>
        <p:txBody>
          <a:bodyPr wrap="square" lIns="0" tIns="0" rIns="0" bIns="0" rtlCol="0" anchor="t"/>
          <a:lstStyle/>
          <a:p>
            <a:pPr indent="0" marL="0">
              <a:buNone/>
            </a:pPr>
            <a:r>
              <a:rPr lang="en-US" sz="1500" dirty="0">
                <a:solidFill>
                  <a:schemeClr val="tx1"/>
                </a:solidFill>
              </a:rPr>
              <a:t>Tạo lớp, ghi danh học viên, giáo viên phụ trách</a:t>
            </a:r>
            <a:endParaRPr lang="en-US" sz="1500" dirty="0"/>
          </a:p>
        </p:txBody>
      </p:sp>
      <p:sp>
        <p:nvSpPr>
          <p:cNvPr id="15" name="Thẻ Điểm danh và điểm số"/>
          <p:cNvSpPr/>
          <p:nvPr/>
        </p:nvSpPr>
        <p:spPr>
          <a:xfrm>
            <a:off x="5047488" y="1691640"/>
            <a:ext cx="2103120" cy="4297680"/>
          </a:xfrm>
          <a:prstGeom prst="roundRect">
            <a:avLst>
              <a:gd name="adj" fmla="val 521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6" name="Biểu tượng Điểm danh và điểm số nền"/>
          <p:cNvSpPr/>
          <p:nvPr/>
        </p:nvSpPr>
        <p:spPr>
          <a:xfrm>
            <a:off x="5321808" y="1965960"/>
            <a:ext cx="731520" cy="731520"/>
          </a:xfrm>
          <a:prstGeom prst="ellipse">
            <a:avLst/>
          </a:prstGeom>
          <a:solidFill>
            <a:schemeClr val="accent2"/>
          </a:solidFill>
          <a:ln w="12700">
            <a:solidFill>
              <a:schemeClr val="accent2"/>
            </a:solidFill>
            <a:prstDash val="solid"/>
          </a:ln>
        </p:spPr>
      </p:sp>
      <p:pic>
        <p:nvPicPr>
          <p:cNvPr id="17" name="Biểu tượng Điểm danh và điểm số" descr="FaClipboardCheck">    </p:cNvPr>
          <p:cNvPicPr>
            <a:picLocks noChangeAspect="1"/>
          </p:cNvPicPr>
          <p:nvPr/>
        </p:nvPicPr>
        <p:blipFill>
          <a:blip r:embed="rId3"/>
          <a:stretch>
            <a:fillRect/>
          </a:stretch>
        </p:blipFill>
        <p:spPr>
          <a:xfrm>
            <a:off x="5519318" y="2163470"/>
            <a:ext cx="336499" cy="336499"/>
          </a:xfrm>
          <a:prstGeom prst="rect">
            <a:avLst/>
          </a:prstGeom>
        </p:spPr>
      </p:pic>
      <p:sp>
        <p:nvSpPr>
          <p:cNvPr id="18" name="Text 13"/>
          <p:cNvSpPr txBox="1"/>
          <p:nvPr/>
        </p:nvSpPr>
        <p:spPr>
          <a:xfrm>
            <a:off x="6464808" y="1965960"/>
            <a:ext cx="457200" cy="731520"/>
          </a:xfrm>
          <a:prstGeom prst="rect">
            <a:avLst/>
          </a:prstGeom>
          <a:noFill/>
          <a:ln/>
        </p:spPr>
        <p:txBody>
          <a:bodyPr wrap="square" lIns="0" tIns="0" rIns="0" bIns="0" rtlCol="0" anchor="t"/>
          <a:lstStyle/>
          <a:p>
            <a:pPr algn="r" indent="0" marL="0">
              <a:buNone/>
            </a:pPr>
            <a:r>
              <a:rPr lang="en-US" sz="4000" b="1" dirty="0">
                <a:solidFill>
                  <a:srgbClr val="CBD5E1"/>
                </a:solidFill>
                <a:latin typeface="Cambria" pitchFamily="34" charset="0"/>
                <a:ea typeface="Cambria" pitchFamily="34" charset="-122"/>
                <a:cs typeface="Cambria" pitchFamily="34" charset="-120"/>
              </a:rPr>
              <a:t>3</a:t>
            </a:r>
            <a:endParaRPr lang="en-US" sz="4000" dirty="0"/>
          </a:p>
        </p:txBody>
      </p:sp>
      <p:sp>
        <p:nvSpPr>
          <p:cNvPr id="19" name="Text 14"/>
          <p:cNvSpPr txBox="1"/>
          <p:nvPr/>
        </p:nvSpPr>
        <p:spPr>
          <a:xfrm>
            <a:off x="5321808" y="2926080"/>
            <a:ext cx="1600200" cy="914400"/>
          </a:xfrm>
          <a:prstGeom prst="rect">
            <a:avLst/>
          </a:prstGeom>
          <a:noFill/>
          <a:ln/>
        </p:spPr>
        <p:txBody>
          <a:bodyPr wrap="square" lIns="0" tIns="0" rIns="0" bIns="0" rtlCol="0" anchor="t"/>
          <a:lstStyle/>
          <a:p>
            <a:pPr indent="0" marL="0">
              <a:buNone/>
            </a:pPr>
            <a:r>
              <a:rPr lang="en-US" sz="1800" b="1" dirty="0">
                <a:solidFill>
                  <a:schemeClr val="tx2"/>
                </a:solidFill>
              </a:rPr>
              <a:t>Điểm danh và điểm số</a:t>
            </a:r>
            <a:endParaRPr lang="en-US" sz="1800" dirty="0"/>
          </a:p>
        </p:txBody>
      </p:sp>
      <p:sp>
        <p:nvSpPr>
          <p:cNvPr id="20" name="Text 15"/>
          <p:cNvSpPr txBox="1"/>
          <p:nvPr/>
        </p:nvSpPr>
        <p:spPr>
          <a:xfrm>
            <a:off x="5321808" y="3977640"/>
            <a:ext cx="1600200" cy="1828800"/>
          </a:xfrm>
          <a:prstGeom prst="rect">
            <a:avLst/>
          </a:prstGeom>
          <a:noFill/>
          <a:ln/>
        </p:spPr>
        <p:txBody>
          <a:bodyPr wrap="square" lIns="0" tIns="0" rIns="0" bIns="0" rtlCol="0" anchor="t"/>
          <a:lstStyle/>
          <a:p>
            <a:pPr indent="0" marL="0">
              <a:buNone/>
            </a:pPr>
            <a:r>
              <a:rPr lang="en-US" sz="1500" dirty="0">
                <a:solidFill>
                  <a:schemeClr val="tx1"/>
                </a:solidFill>
              </a:rPr>
              <a:t>Điểm danh cả lớp, tổng hợp chuyên cần, báo cáo Excel</a:t>
            </a:r>
            <a:endParaRPr lang="en-US" sz="1500" dirty="0"/>
          </a:p>
        </p:txBody>
      </p:sp>
      <p:sp>
        <p:nvSpPr>
          <p:cNvPr id="21" name="Thẻ Học phí"/>
          <p:cNvSpPr/>
          <p:nvPr/>
        </p:nvSpPr>
        <p:spPr>
          <a:xfrm>
            <a:off x="7296912" y="1691640"/>
            <a:ext cx="2103120" cy="4297680"/>
          </a:xfrm>
          <a:prstGeom prst="roundRect">
            <a:avLst>
              <a:gd name="adj" fmla="val 521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22" name="Biểu tượng Học phí nền"/>
          <p:cNvSpPr/>
          <p:nvPr/>
        </p:nvSpPr>
        <p:spPr>
          <a:xfrm>
            <a:off x="7571232" y="1965960"/>
            <a:ext cx="731520" cy="731520"/>
          </a:xfrm>
          <a:prstGeom prst="ellipse">
            <a:avLst/>
          </a:prstGeom>
          <a:solidFill>
            <a:schemeClr val="accent3"/>
          </a:solidFill>
          <a:ln w="12700">
            <a:solidFill>
              <a:schemeClr val="accent3"/>
            </a:solidFill>
            <a:prstDash val="solid"/>
          </a:ln>
        </p:spPr>
      </p:sp>
      <p:pic>
        <p:nvPicPr>
          <p:cNvPr id="23" name="Biểu tượng Học phí" descr="FaMoneyBillWave">    </p:cNvPr>
          <p:cNvPicPr>
            <a:picLocks noChangeAspect="1"/>
          </p:cNvPicPr>
          <p:nvPr/>
        </p:nvPicPr>
        <p:blipFill>
          <a:blip r:embed="rId4"/>
          <a:stretch>
            <a:fillRect/>
          </a:stretch>
        </p:blipFill>
        <p:spPr>
          <a:xfrm>
            <a:off x="7768742" y="2163470"/>
            <a:ext cx="336499" cy="336499"/>
          </a:xfrm>
          <a:prstGeom prst="rect">
            <a:avLst/>
          </a:prstGeom>
        </p:spPr>
      </p:pic>
      <p:sp>
        <p:nvSpPr>
          <p:cNvPr id="24" name="Text 18"/>
          <p:cNvSpPr txBox="1"/>
          <p:nvPr/>
        </p:nvSpPr>
        <p:spPr>
          <a:xfrm>
            <a:off x="8714232" y="1965960"/>
            <a:ext cx="457200" cy="731520"/>
          </a:xfrm>
          <a:prstGeom prst="rect">
            <a:avLst/>
          </a:prstGeom>
          <a:noFill/>
          <a:ln/>
        </p:spPr>
        <p:txBody>
          <a:bodyPr wrap="square" lIns="0" tIns="0" rIns="0" bIns="0" rtlCol="0" anchor="t"/>
          <a:lstStyle/>
          <a:p>
            <a:pPr algn="r" indent="0" marL="0">
              <a:buNone/>
            </a:pPr>
            <a:r>
              <a:rPr lang="en-US" sz="4000" b="1" dirty="0">
                <a:solidFill>
                  <a:srgbClr val="CBD5E1"/>
                </a:solidFill>
                <a:latin typeface="Cambria" pitchFamily="34" charset="0"/>
                <a:ea typeface="Cambria" pitchFamily="34" charset="-122"/>
                <a:cs typeface="Cambria" pitchFamily="34" charset="-120"/>
              </a:rPr>
              <a:t>4</a:t>
            </a:r>
            <a:endParaRPr lang="en-US" sz="4000" dirty="0"/>
          </a:p>
        </p:txBody>
      </p:sp>
      <p:sp>
        <p:nvSpPr>
          <p:cNvPr id="25" name="Text 19"/>
          <p:cNvSpPr txBox="1"/>
          <p:nvPr/>
        </p:nvSpPr>
        <p:spPr>
          <a:xfrm>
            <a:off x="7571232" y="2926080"/>
            <a:ext cx="1600200" cy="914400"/>
          </a:xfrm>
          <a:prstGeom prst="rect">
            <a:avLst/>
          </a:prstGeom>
          <a:noFill/>
          <a:ln/>
        </p:spPr>
        <p:txBody>
          <a:bodyPr wrap="square" lIns="0" tIns="0" rIns="0" bIns="0" rtlCol="0" anchor="t"/>
          <a:lstStyle/>
          <a:p>
            <a:pPr indent="0" marL="0">
              <a:buNone/>
            </a:pPr>
            <a:r>
              <a:rPr lang="en-US" sz="1800" b="1" dirty="0">
                <a:solidFill>
                  <a:schemeClr val="tx2"/>
                </a:solidFill>
              </a:rPr>
              <a:t>Học phí</a:t>
            </a:r>
            <a:endParaRPr lang="en-US" sz="1800" dirty="0"/>
          </a:p>
        </p:txBody>
      </p:sp>
      <p:sp>
        <p:nvSpPr>
          <p:cNvPr id="26" name="Text 20"/>
          <p:cNvSpPr txBox="1"/>
          <p:nvPr/>
        </p:nvSpPr>
        <p:spPr>
          <a:xfrm>
            <a:off x="7571232" y="3977640"/>
            <a:ext cx="1600200" cy="1828800"/>
          </a:xfrm>
          <a:prstGeom prst="rect">
            <a:avLst/>
          </a:prstGeom>
          <a:noFill/>
          <a:ln/>
        </p:spPr>
        <p:txBody>
          <a:bodyPr wrap="square" lIns="0" tIns="0" rIns="0" bIns="0" rtlCol="0" anchor="t"/>
          <a:lstStyle/>
          <a:p>
            <a:pPr indent="0" marL="0">
              <a:buNone/>
            </a:pPr>
            <a:r>
              <a:rPr lang="en-US" sz="1500" dirty="0">
                <a:solidFill>
                  <a:schemeClr val="tx1"/>
                </a:solidFill>
              </a:rPr>
              <a:t>Tạo khoản, ghi nhận đã đóng, đánh dấu quá hạn</a:t>
            </a:r>
            <a:endParaRPr lang="en-US" sz="1500" dirty="0"/>
          </a:p>
        </p:txBody>
      </p:sp>
      <p:sp>
        <p:nvSpPr>
          <p:cNvPr id="27" name="Thẻ AI Coach"/>
          <p:cNvSpPr/>
          <p:nvPr/>
        </p:nvSpPr>
        <p:spPr>
          <a:xfrm>
            <a:off x="9546336" y="1691640"/>
            <a:ext cx="2103120" cy="4297680"/>
          </a:xfrm>
          <a:prstGeom prst="roundRect">
            <a:avLst>
              <a:gd name="adj" fmla="val 5217"/>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28" name="Biểu tượng AI Coach nền"/>
          <p:cNvSpPr/>
          <p:nvPr/>
        </p:nvSpPr>
        <p:spPr>
          <a:xfrm>
            <a:off x="9820656" y="1965960"/>
            <a:ext cx="731520" cy="731520"/>
          </a:xfrm>
          <a:prstGeom prst="ellipse">
            <a:avLst/>
          </a:prstGeom>
          <a:solidFill>
            <a:schemeClr val="accent4"/>
          </a:solidFill>
          <a:ln w="12700">
            <a:solidFill>
              <a:schemeClr val="accent4"/>
            </a:solidFill>
            <a:prstDash val="solid"/>
          </a:ln>
        </p:spPr>
      </p:sp>
      <p:pic>
        <p:nvPicPr>
          <p:cNvPr id="29" name="Biểu tượng AI Coach" descr="FaRobot">    </p:cNvPr>
          <p:cNvPicPr>
            <a:picLocks noChangeAspect="1"/>
          </p:cNvPicPr>
          <p:nvPr/>
        </p:nvPicPr>
        <p:blipFill>
          <a:blip r:embed="rId5"/>
          <a:stretch>
            <a:fillRect/>
          </a:stretch>
        </p:blipFill>
        <p:spPr>
          <a:xfrm>
            <a:off x="10018166" y="2163470"/>
            <a:ext cx="336499" cy="336499"/>
          </a:xfrm>
          <a:prstGeom prst="rect">
            <a:avLst/>
          </a:prstGeom>
        </p:spPr>
      </p:pic>
      <p:sp>
        <p:nvSpPr>
          <p:cNvPr id="30" name="Text 23"/>
          <p:cNvSpPr txBox="1"/>
          <p:nvPr/>
        </p:nvSpPr>
        <p:spPr>
          <a:xfrm>
            <a:off x="10963656" y="1965960"/>
            <a:ext cx="457200" cy="731520"/>
          </a:xfrm>
          <a:prstGeom prst="rect">
            <a:avLst/>
          </a:prstGeom>
          <a:noFill/>
          <a:ln/>
        </p:spPr>
        <p:txBody>
          <a:bodyPr wrap="square" lIns="0" tIns="0" rIns="0" bIns="0" rtlCol="0" anchor="t"/>
          <a:lstStyle/>
          <a:p>
            <a:pPr algn="r" indent="0" marL="0">
              <a:buNone/>
            </a:pPr>
            <a:r>
              <a:rPr lang="en-US" sz="4000" b="1" dirty="0">
                <a:solidFill>
                  <a:srgbClr val="CBD5E1"/>
                </a:solidFill>
                <a:latin typeface="Cambria" pitchFamily="34" charset="0"/>
                <a:ea typeface="Cambria" pitchFamily="34" charset="-122"/>
                <a:cs typeface="Cambria" pitchFamily="34" charset="-120"/>
              </a:rPr>
              <a:t>5</a:t>
            </a:r>
            <a:endParaRPr lang="en-US" sz="4000" dirty="0"/>
          </a:p>
        </p:txBody>
      </p:sp>
      <p:sp>
        <p:nvSpPr>
          <p:cNvPr id="31" name="Text 24"/>
          <p:cNvSpPr txBox="1"/>
          <p:nvPr/>
        </p:nvSpPr>
        <p:spPr>
          <a:xfrm>
            <a:off x="9820656" y="2926080"/>
            <a:ext cx="1600200" cy="914400"/>
          </a:xfrm>
          <a:prstGeom prst="rect">
            <a:avLst/>
          </a:prstGeom>
          <a:noFill/>
          <a:ln/>
        </p:spPr>
        <p:txBody>
          <a:bodyPr wrap="square" lIns="0" tIns="0" rIns="0" bIns="0" rtlCol="0" anchor="t"/>
          <a:lstStyle/>
          <a:p>
            <a:pPr indent="0" marL="0">
              <a:buNone/>
            </a:pPr>
            <a:r>
              <a:rPr lang="en-US" sz="1800" b="1" dirty="0">
                <a:solidFill>
                  <a:schemeClr val="tx2"/>
                </a:solidFill>
              </a:rPr>
              <a:t>AI Coach</a:t>
            </a:r>
            <a:endParaRPr lang="en-US" sz="1800" dirty="0"/>
          </a:p>
        </p:txBody>
      </p:sp>
      <p:sp>
        <p:nvSpPr>
          <p:cNvPr id="32" name="Text 25"/>
          <p:cNvSpPr txBox="1"/>
          <p:nvPr/>
        </p:nvSpPr>
        <p:spPr>
          <a:xfrm>
            <a:off x="9820656" y="3977640"/>
            <a:ext cx="1600200" cy="1828800"/>
          </a:xfrm>
          <a:prstGeom prst="rect">
            <a:avLst/>
          </a:prstGeom>
          <a:noFill/>
          <a:ln/>
        </p:spPr>
        <p:txBody>
          <a:bodyPr wrap="square" lIns="0" tIns="0" rIns="0" bIns="0" rtlCol="0" anchor="t"/>
          <a:lstStyle/>
          <a:p>
            <a:pPr indent="0" marL="0">
              <a:buNone/>
            </a:pPr>
            <a:r>
              <a:rPr lang="en-US" sz="1500" dirty="0">
                <a:solidFill>
                  <a:schemeClr val="tx1"/>
                </a:solidFill>
              </a:rPr>
              <a:t>Nhận xét bài viết và bài nói bằng Gemini hoặc luật</a:t>
            </a:r>
            <a:endParaRPr lang="en-US" sz="15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Kiến trúc hệ thống</a:t>
            </a:r>
            <a:endParaRPr lang="en-US" sz="3400" dirty="0"/>
          </a:p>
        </p:txBody>
      </p:sp>
      <p:sp>
        <p:nvSpPr>
          <p:cNvPr id="3" name="Khối Trình duyệt"/>
          <p:cNvSpPr/>
          <p:nvPr/>
        </p:nvSpPr>
        <p:spPr>
          <a:xfrm>
            <a:off x="548640" y="1737360"/>
            <a:ext cx="2103120" cy="1737360"/>
          </a:xfrm>
          <a:prstGeom prst="roundRect">
            <a:avLst>
              <a:gd name="adj" fmla="val 6316"/>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4" name="Biểu tượng Trình duyệt nền"/>
          <p:cNvSpPr/>
          <p:nvPr/>
        </p:nvSpPr>
        <p:spPr>
          <a:xfrm>
            <a:off x="1280160" y="1965960"/>
            <a:ext cx="640080" cy="640080"/>
          </a:xfrm>
          <a:prstGeom prst="ellipse">
            <a:avLst/>
          </a:prstGeom>
          <a:solidFill>
            <a:schemeClr val="accent6"/>
          </a:solidFill>
          <a:ln w="12700">
            <a:solidFill>
              <a:schemeClr val="accent6"/>
            </a:solidFill>
            <a:prstDash val="solid"/>
          </a:ln>
        </p:spPr>
      </p:sp>
      <p:pic>
        <p:nvPicPr>
          <p:cNvPr id="5" name="Biểu tượng Trình duyệt" descr="FaUsers">    </p:cNvPr>
          <p:cNvPicPr>
            <a:picLocks noChangeAspect="1"/>
          </p:cNvPicPr>
          <p:nvPr/>
        </p:nvPicPr>
        <p:blipFill>
          <a:blip r:embed="rId1"/>
          <a:stretch>
            <a:fillRect/>
          </a:stretch>
        </p:blipFill>
        <p:spPr>
          <a:xfrm>
            <a:off x="1452982" y="2138782"/>
            <a:ext cx="294437" cy="294437"/>
          </a:xfrm>
          <a:prstGeom prst="rect">
            <a:avLst/>
          </a:prstGeom>
        </p:spPr>
      </p:pic>
      <p:sp>
        <p:nvSpPr>
          <p:cNvPr id="6" name="Text 3"/>
          <p:cNvSpPr txBox="1"/>
          <p:nvPr/>
        </p:nvSpPr>
        <p:spPr>
          <a:xfrm>
            <a:off x="640080" y="2697480"/>
            <a:ext cx="1920240" cy="365760"/>
          </a:xfrm>
          <a:prstGeom prst="rect">
            <a:avLst/>
          </a:prstGeom>
          <a:noFill/>
          <a:ln/>
        </p:spPr>
        <p:txBody>
          <a:bodyPr wrap="square" lIns="0" tIns="0" rIns="0" bIns="0" rtlCol="0" anchor="t"/>
          <a:lstStyle/>
          <a:p>
            <a:pPr algn="ctr" indent="0" marL="0">
              <a:buNone/>
            </a:pPr>
            <a:r>
              <a:rPr lang="en-US" sz="1800" b="1" dirty="0">
                <a:solidFill>
                  <a:schemeClr val="tx2"/>
                </a:solidFill>
              </a:rPr>
              <a:t>Trình duyệt</a:t>
            </a:r>
            <a:endParaRPr lang="en-US" sz="1800" dirty="0"/>
          </a:p>
        </p:txBody>
      </p:sp>
      <p:sp>
        <p:nvSpPr>
          <p:cNvPr id="7" name="Text 4"/>
          <p:cNvSpPr txBox="1"/>
          <p:nvPr/>
        </p:nvSpPr>
        <p:spPr>
          <a:xfrm>
            <a:off x="640080" y="306324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Người dùng</a:t>
            </a:r>
            <a:endParaRPr lang="en-US" sz="1400" dirty="0"/>
          </a:p>
        </p:txBody>
      </p:sp>
      <p:sp>
        <p:nvSpPr>
          <p:cNvPr id="8" name="Mũi tên 1"/>
          <p:cNvSpPr/>
          <p:nvPr/>
        </p:nvSpPr>
        <p:spPr>
          <a:xfrm>
            <a:off x="2724912" y="2606040"/>
            <a:ext cx="749808" cy="0"/>
          </a:xfrm>
          <a:prstGeom prst="line">
            <a:avLst/>
          </a:prstGeom>
          <a:noFill/>
          <a:ln w="28575">
            <a:solidFill>
              <a:schemeClr val="accent6"/>
            </a:solidFill>
            <a:prstDash val="solid"/>
            <a:tailEnd type="triangle"/>
          </a:ln>
        </p:spPr>
      </p:sp>
      <p:sp>
        <p:nvSpPr>
          <p:cNvPr id="9" name="Khối nginx + React"/>
          <p:cNvSpPr/>
          <p:nvPr/>
        </p:nvSpPr>
        <p:spPr>
          <a:xfrm>
            <a:off x="3547872" y="1737360"/>
            <a:ext cx="2103120" cy="1737360"/>
          </a:xfrm>
          <a:prstGeom prst="roundRect">
            <a:avLst>
              <a:gd name="adj" fmla="val 6316"/>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0" name="Biểu tượng nginx + React nền"/>
          <p:cNvSpPr/>
          <p:nvPr/>
        </p:nvSpPr>
        <p:spPr>
          <a:xfrm>
            <a:off x="4279392" y="1965960"/>
            <a:ext cx="640080" cy="640080"/>
          </a:xfrm>
          <a:prstGeom prst="ellipse">
            <a:avLst/>
          </a:prstGeom>
          <a:solidFill>
            <a:schemeClr val="accent5"/>
          </a:solidFill>
          <a:ln w="12700">
            <a:solidFill>
              <a:schemeClr val="accent5"/>
            </a:solidFill>
            <a:prstDash val="solid"/>
          </a:ln>
        </p:spPr>
      </p:sp>
      <p:pic>
        <p:nvPicPr>
          <p:cNvPr id="11" name="Biểu tượng nginx + React" descr="FaReact">    </p:cNvPr>
          <p:cNvPicPr>
            <a:picLocks noChangeAspect="1"/>
          </p:cNvPicPr>
          <p:nvPr/>
        </p:nvPicPr>
        <p:blipFill>
          <a:blip r:embed="rId2"/>
          <a:stretch>
            <a:fillRect/>
          </a:stretch>
        </p:blipFill>
        <p:spPr>
          <a:xfrm>
            <a:off x="4452214" y="2138782"/>
            <a:ext cx="294437" cy="294437"/>
          </a:xfrm>
          <a:prstGeom prst="rect">
            <a:avLst/>
          </a:prstGeom>
        </p:spPr>
      </p:pic>
      <p:sp>
        <p:nvSpPr>
          <p:cNvPr id="12" name="Text 8"/>
          <p:cNvSpPr txBox="1"/>
          <p:nvPr/>
        </p:nvSpPr>
        <p:spPr>
          <a:xfrm>
            <a:off x="3639312" y="2697480"/>
            <a:ext cx="1920240" cy="365760"/>
          </a:xfrm>
          <a:prstGeom prst="rect">
            <a:avLst/>
          </a:prstGeom>
          <a:noFill/>
          <a:ln/>
        </p:spPr>
        <p:txBody>
          <a:bodyPr wrap="square" lIns="0" tIns="0" rIns="0" bIns="0" rtlCol="0" anchor="t"/>
          <a:lstStyle/>
          <a:p>
            <a:pPr algn="ctr" indent="0" marL="0">
              <a:buNone/>
            </a:pPr>
            <a:r>
              <a:rPr lang="en-US" sz="1800" b="1" dirty="0">
                <a:solidFill>
                  <a:schemeClr val="tx2"/>
                </a:solidFill>
              </a:rPr>
              <a:t>nginx + React</a:t>
            </a:r>
            <a:endParaRPr lang="en-US" sz="1800" dirty="0"/>
          </a:p>
        </p:txBody>
      </p:sp>
      <p:sp>
        <p:nvSpPr>
          <p:cNvPr id="13" name="Text 9"/>
          <p:cNvSpPr txBox="1"/>
          <p:nvPr/>
        </p:nvSpPr>
        <p:spPr>
          <a:xfrm>
            <a:off x="3639312" y="306324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Cổng 8080</a:t>
            </a:r>
            <a:endParaRPr lang="en-US" sz="1400" dirty="0"/>
          </a:p>
        </p:txBody>
      </p:sp>
      <p:sp>
        <p:nvSpPr>
          <p:cNvPr id="14" name="Mũi tên 2"/>
          <p:cNvSpPr/>
          <p:nvPr/>
        </p:nvSpPr>
        <p:spPr>
          <a:xfrm>
            <a:off x="5724144" y="2606040"/>
            <a:ext cx="749808" cy="0"/>
          </a:xfrm>
          <a:prstGeom prst="line">
            <a:avLst/>
          </a:prstGeom>
          <a:noFill/>
          <a:ln w="28575">
            <a:solidFill>
              <a:schemeClr val="accent6"/>
            </a:solidFill>
            <a:prstDash val="solid"/>
            <a:tailEnd type="triangle"/>
          </a:ln>
        </p:spPr>
      </p:sp>
      <p:sp>
        <p:nvSpPr>
          <p:cNvPr id="15" name="Khối FastAPI"/>
          <p:cNvSpPr/>
          <p:nvPr/>
        </p:nvSpPr>
        <p:spPr>
          <a:xfrm>
            <a:off x="6547104" y="1737360"/>
            <a:ext cx="2103120" cy="1737360"/>
          </a:xfrm>
          <a:prstGeom prst="roundRect">
            <a:avLst>
              <a:gd name="adj" fmla="val 6316"/>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6" name="Biểu tượng FastAPI nền"/>
          <p:cNvSpPr/>
          <p:nvPr/>
        </p:nvSpPr>
        <p:spPr>
          <a:xfrm>
            <a:off x="7278624" y="1965960"/>
            <a:ext cx="640080" cy="640080"/>
          </a:xfrm>
          <a:prstGeom prst="ellipse">
            <a:avLst/>
          </a:prstGeom>
          <a:solidFill>
            <a:schemeClr val="accent1"/>
          </a:solidFill>
          <a:ln w="12700">
            <a:solidFill>
              <a:schemeClr val="accent1"/>
            </a:solidFill>
            <a:prstDash val="solid"/>
          </a:ln>
        </p:spPr>
      </p:sp>
      <p:pic>
        <p:nvPicPr>
          <p:cNvPr id="17" name="Biểu tượng FastAPI" descr="FaPython">    </p:cNvPr>
          <p:cNvPicPr>
            <a:picLocks noChangeAspect="1"/>
          </p:cNvPicPr>
          <p:nvPr/>
        </p:nvPicPr>
        <p:blipFill>
          <a:blip r:embed="rId3"/>
          <a:stretch>
            <a:fillRect/>
          </a:stretch>
        </p:blipFill>
        <p:spPr>
          <a:xfrm>
            <a:off x="7451446" y="2138782"/>
            <a:ext cx="294437" cy="294437"/>
          </a:xfrm>
          <a:prstGeom prst="rect">
            <a:avLst/>
          </a:prstGeom>
        </p:spPr>
      </p:pic>
      <p:sp>
        <p:nvSpPr>
          <p:cNvPr id="18" name="Text 13"/>
          <p:cNvSpPr txBox="1"/>
          <p:nvPr/>
        </p:nvSpPr>
        <p:spPr>
          <a:xfrm>
            <a:off x="6638544" y="2697480"/>
            <a:ext cx="1920240" cy="365760"/>
          </a:xfrm>
          <a:prstGeom prst="rect">
            <a:avLst/>
          </a:prstGeom>
          <a:noFill/>
          <a:ln/>
        </p:spPr>
        <p:txBody>
          <a:bodyPr wrap="square" lIns="0" tIns="0" rIns="0" bIns="0" rtlCol="0" anchor="t"/>
          <a:lstStyle/>
          <a:p>
            <a:pPr algn="ctr" indent="0" marL="0">
              <a:buNone/>
            </a:pPr>
            <a:r>
              <a:rPr lang="en-US" sz="1800" b="1" dirty="0">
                <a:solidFill>
                  <a:schemeClr val="tx2"/>
                </a:solidFill>
              </a:rPr>
              <a:t>FastAPI</a:t>
            </a:r>
            <a:endParaRPr lang="en-US" sz="1800" dirty="0"/>
          </a:p>
        </p:txBody>
      </p:sp>
      <p:sp>
        <p:nvSpPr>
          <p:cNvPr id="19" name="Text 14"/>
          <p:cNvSpPr txBox="1"/>
          <p:nvPr/>
        </p:nvSpPr>
        <p:spPr>
          <a:xfrm>
            <a:off x="6638544" y="306324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Cổng 8000</a:t>
            </a:r>
            <a:endParaRPr lang="en-US" sz="1400" dirty="0"/>
          </a:p>
        </p:txBody>
      </p:sp>
      <p:sp>
        <p:nvSpPr>
          <p:cNvPr id="20" name="Mũi tên 3"/>
          <p:cNvSpPr/>
          <p:nvPr/>
        </p:nvSpPr>
        <p:spPr>
          <a:xfrm>
            <a:off x="8723376" y="2606040"/>
            <a:ext cx="749808" cy="0"/>
          </a:xfrm>
          <a:prstGeom prst="line">
            <a:avLst/>
          </a:prstGeom>
          <a:noFill/>
          <a:ln w="28575">
            <a:solidFill>
              <a:schemeClr val="accent6"/>
            </a:solidFill>
            <a:prstDash val="solid"/>
            <a:tailEnd type="triangle"/>
          </a:ln>
        </p:spPr>
      </p:sp>
      <p:sp>
        <p:nvSpPr>
          <p:cNvPr id="21" name="Khối PostgreSQL"/>
          <p:cNvSpPr/>
          <p:nvPr/>
        </p:nvSpPr>
        <p:spPr>
          <a:xfrm>
            <a:off x="9546336" y="1737360"/>
            <a:ext cx="2103120" cy="1737360"/>
          </a:xfrm>
          <a:prstGeom prst="roundRect">
            <a:avLst>
              <a:gd name="adj" fmla="val 6316"/>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22" name="Biểu tượng PostgreSQL nền"/>
          <p:cNvSpPr/>
          <p:nvPr/>
        </p:nvSpPr>
        <p:spPr>
          <a:xfrm>
            <a:off x="10277856" y="1965960"/>
            <a:ext cx="640080" cy="640080"/>
          </a:xfrm>
          <a:prstGeom prst="ellipse">
            <a:avLst/>
          </a:prstGeom>
          <a:solidFill>
            <a:schemeClr val="accent2"/>
          </a:solidFill>
          <a:ln w="12700">
            <a:solidFill>
              <a:schemeClr val="accent2"/>
            </a:solidFill>
            <a:prstDash val="solid"/>
          </a:ln>
        </p:spPr>
      </p:sp>
      <p:pic>
        <p:nvPicPr>
          <p:cNvPr id="23" name="Biểu tượng PostgreSQL" descr="FaDatabase">    </p:cNvPr>
          <p:cNvPicPr>
            <a:picLocks noChangeAspect="1"/>
          </p:cNvPicPr>
          <p:nvPr/>
        </p:nvPicPr>
        <p:blipFill>
          <a:blip r:embed="rId4"/>
          <a:stretch>
            <a:fillRect/>
          </a:stretch>
        </p:blipFill>
        <p:spPr>
          <a:xfrm>
            <a:off x="10450678" y="2138782"/>
            <a:ext cx="294437" cy="294437"/>
          </a:xfrm>
          <a:prstGeom prst="rect">
            <a:avLst/>
          </a:prstGeom>
        </p:spPr>
      </p:pic>
      <p:sp>
        <p:nvSpPr>
          <p:cNvPr id="24" name="Text 18"/>
          <p:cNvSpPr txBox="1"/>
          <p:nvPr/>
        </p:nvSpPr>
        <p:spPr>
          <a:xfrm>
            <a:off x="9637776" y="2697480"/>
            <a:ext cx="1920240" cy="365760"/>
          </a:xfrm>
          <a:prstGeom prst="rect">
            <a:avLst/>
          </a:prstGeom>
          <a:noFill/>
          <a:ln/>
        </p:spPr>
        <p:txBody>
          <a:bodyPr wrap="square" lIns="0" tIns="0" rIns="0" bIns="0" rtlCol="0" anchor="t"/>
          <a:lstStyle/>
          <a:p>
            <a:pPr algn="ctr" indent="0" marL="0">
              <a:buNone/>
            </a:pPr>
            <a:r>
              <a:rPr lang="en-US" sz="1800" b="1" dirty="0">
                <a:solidFill>
                  <a:schemeClr val="tx2"/>
                </a:solidFill>
              </a:rPr>
              <a:t>PostgreSQL</a:t>
            </a:r>
            <a:endParaRPr lang="en-US" sz="1800" dirty="0"/>
          </a:p>
        </p:txBody>
      </p:sp>
      <p:sp>
        <p:nvSpPr>
          <p:cNvPr id="25" name="Text 19"/>
          <p:cNvSpPr txBox="1"/>
          <p:nvPr/>
        </p:nvSpPr>
        <p:spPr>
          <a:xfrm>
            <a:off x="9637776" y="3063240"/>
            <a:ext cx="1920240" cy="274320"/>
          </a:xfrm>
          <a:prstGeom prst="rect">
            <a:avLst/>
          </a:prstGeom>
          <a:noFill/>
          <a:ln/>
        </p:spPr>
        <p:txBody>
          <a:bodyPr wrap="square" lIns="0" tIns="0" rIns="0" bIns="0" rtlCol="0" anchor="t"/>
          <a:lstStyle/>
          <a:p>
            <a:pPr algn="ctr" indent="0" marL="0">
              <a:buNone/>
            </a:pPr>
            <a:r>
              <a:rPr lang="en-US" sz="1400" dirty="0">
                <a:solidFill>
                  <a:schemeClr val="accent6"/>
                </a:solidFill>
              </a:rPr>
              <a:t>Cổng 5433</a:t>
            </a:r>
            <a:endParaRPr lang="en-US" sz="1400" dirty="0"/>
          </a:p>
        </p:txBody>
      </p:sp>
      <p:sp>
        <p:nvSpPr>
          <p:cNvPr id="26" name="Text 20"/>
          <p:cNvSpPr txBox="1"/>
          <p:nvPr/>
        </p:nvSpPr>
        <p:spPr>
          <a:xfrm>
            <a:off x="2651760" y="2194560"/>
            <a:ext cx="896112" cy="274320"/>
          </a:xfrm>
          <a:prstGeom prst="rect">
            <a:avLst/>
          </a:prstGeom>
          <a:noFill/>
          <a:ln/>
        </p:spPr>
        <p:txBody>
          <a:bodyPr wrap="square" lIns="0" tIns="0" rIns="0" bIns="0" rtlCol="0" anchor="t"/>
          <a:lstStyle/>
          <a:p>
            <a:pPr algn="ctr" indent="0" marL="0">
              <a:buNone/>
            </a:pPr>
            <a:r>
              <a:rPr lang="en-US" sz="1200" dirty="0">
                <a:solidFill>
                  <a:schemeClr val="accent6"/>
                </a:solidFill>
              </a:rPr>
              <a:t>HTTP</a:t>
            </a:r>
            <a:endParaRPr lang="en-US" sz="1200" dirty="0"/>
          </a:p>
        </p:txBody>
      </p:sp>
      <p:sp>
        <p:nvSpPr>
          <p:cNvPr id="27" name="Text 21"/>
          <p:cNvSpPr txBox="1"/>
          <p:nvPr/>
        </p:nvSpPr>
        <p:spPr>
          <a:xfrm>
            <a:off x="5650992" y="2194560"/>
            <a:ext cx="896112" cy="274320"/>
          </a:xfrm>
          <a:prstGeom prst="rect">
            <a:avLst/>
          </a:prstGeom>
          <a:noFill/>
          <a:ln/>
        </p:spPr>
        <p:txBody>
          <a:bodyPr wrap="square" lIns="0" tIns="0" rIns="0" bIns="0" rtlCol="0" anchor="t"/>
          <a:lstStyle/>
          <a:p>
            <a:pPr algn="ctr" indent="0" marL="0">
              <a:buNone/>
            </a:pPr>
            <a:r>
              <a:rPr lang="en-US" sz="1200" dirty="0">
                <a:solidFill>
                  <a:schemeClr val="accent6"/>
                </a:solidFill>
              </a:rPr>
              <a:t>/api/*</a:t>
            </a:r>
            <a:endParaRPr lang="en-US" sz="1200" dirty="0"/>
          </a:p>
        </p:txBody>
      </p:sp>
      <p:sp>
        <p:nvSpPr>
          <p:cNvPr id="28" name="Text 22"/>
          <p:cNvSpPr txBox="1"/>
          <p:nvPr/>
        </p:nvSpPr>
        <p:spPr>
          <a:xfrm>
            <a:off x="8650224" y="2194560"/>
            <a:ext cx="896112" cy="274320"/>
          </a:xfrm>
          <a:prstGeom prst="rect">
            <a:avLst/>
          </a:prstGeom>
          <a:noFill/>
          <a:ln/>
        </p:spPr>
        <p:txBody>
          <a:bodyPr wrap="square" lIns="0" tIns="0" rIns="0" bIns="0" rtlCol="0" anchor="t"/>
          <a:lstStyle/>
          <a:p>
            <a:pPr algn="ctr" indent="0" marL="0">
              <a:buNone/>
            </a:pPr>
            <a:r>
              <a:rPr lang="en-US" sz="1200" dirty="0">
                <a:solidFill>
                  <a:schemeClr val="accent6"/>
                </a:solidFill>
              </a:rPr>
              <a:t>SQLAlchemy</a:t>
            </a:r>
            <a:endParaRPr lang="en-US" sz="1200" dirty="0"/>
          </a:p>
        </p:txBody>
      </p:sp>
      <p:sp>
        <p:nvSpPr>
          <p:cNvPr id="29" name="Khối Gemini"/>
          <p:cNvSpPr/>
          <p:nvPr/>
        </p:nvSpPr>
        <p:spPr>
          <a:xfrm>
            <a:off x="6455664" y="4069080"/>
            <a:ext cx="2286000" cy="868680"/>
          </a:xfrm>
          <a:prstGeom prst="roundRect">
            <a:avLst>
              <a:gd name="adj" fmla="val 12632"/>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30" name="Text 24"/>
          <p:cNvSpPr txBox="1"/>
          <p:nvPr/>
        </p:nvSpPr>
        <p:spPr>
          <a:xfrm>
            <a:off x="6547104" y="4160520"/>
            <a:ext cx="2103120" cy="320040"/>
          </a:xfrm>
          <a:prstGeom prst="rect">
            <a:avLst/>
          </a:prstGeom>
          <a:noFill/>
          <a:ln/>
        </p:spPr>
        <p:txBody>
          <a:bodyPr wrap="square" lIns="0" tIns="0" rIns="0" bIns="0" rtlCol="0" anchor="t"/>
          <a:lstStyle/>
          <a:p>
            <a:pPr algn="ctr" indent="0" marL="0">
              <a:buNone/>
            </a:pPr>
            <a:r>
              <a:rPr lang="en-US" sz="1600" b="1" dirty="0">
                <a:solidFill>
                  <a:schemeClr val="tx2"/>
                </a:solidFill>
              </a:rPr>
              <a:t>Gemini API</a:t>
            </a:r>
            <a:endParaRPr lang="en-US" sz="1600" dirty="0"/>
          </a:p>
        </p:txBody>
      </p:sp>
      <p:sp>
        <p:nvSpPr>
          <p:cNvPr id="31" name="Text 25"/>
          <p:cNvSpPr txBox="1"/>
          <p:nvPr/>
        </p:nvSpPr>
        <p:spPr>
          <a:xfrm>
            <a:off x="6547104" y="4507992"/>
            <a:ext cx="2103120" cy="274320"/>
          </a:xfrm>
          <a:prstGeom prst="rect">
            <a:avLst/>
          </a:prstGeom>
          <a:noFill/>
          <a:ln/>
        </p:spPr>
        <p:txBody>
          <a:bodyPr wrap="square" lIns="0" tIns="0" rIns="0" bIns="0" rtlCol="0" anchor="t"/>
          <a:lstStyle/>
          <a:p>
            <a:pPr algn="ctr" indent="0" marL="0">
              <a:buNone/>
            </a:pPr>
            <a:r>
              <a:rPr lang="en-US" sz="1200" dirty="0">
                <a:solidFill>
                  <a:schemeClr val="accent6"/>
                </a:solidFill>
              </a:rPr>
              <a:t>Tùy chọn, có key mới gọi</a:t>
            </a:r>
            <a:endParaRPr lang="en-US" sz="1200" dirty="0"/>
          </a:p>
        </p:txBody>
      </p:sp>
      <p:sp>
        <p:nvSpPr>
          <p:cNvPr id="32" name="Mũi tên Gemini"/>
          <p:cNvSpPr/>
          <p:nvPr/>
        </p:nvSpPr>
        <p:spPr>
          <a:xfrm>
            <a:off x="7598664" y="3547872"/>
            <a:ext cx="0" cy="457200"/>
          </a:xfrm>
          <a:prstGeom prst="line">
            <a:avLst/>
          </a:prstGeom>
          <a:noFill/>
          <a:ln w="22225">
            <a:solidFill>
              <a:schemeClr val="accent6"/>
            </a:solidFill>
            <a:prstDash val="dash"/>
            <a:headEnd type="triangle"/>
            <a:tailEnd type="triangle"/>
          </a:ln>
        </p:spPr>
      </p:sp>
      <p:sp>
        <p:nvSpPr>
          <p:cNvPr id="33" name="Dải Docker Compose"/>
          <p:cNvSpPr/>
          <p:nvPr/>
        </p:nvSpPr>
        <p:spPr>
          <a:xfrm>
            <a:off x="548640" y="5212080"/>
            <a:ext cx="11064240" cy="914400"/>
          </a:xfrm>
          <a:prstGeom prst="roundRect">
            <a:avLst>
              <a:gd name="adj" fmla="val 12000"/>
            </a:avLst>
          </a:prstGeom>
          <a:solidFill>
            <a:schemeClr val="tx2"/>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34" name="Text 28"/>
          <p:cNvSpPr txBox="1"/>
          <p:nvPr/>
        </p:nvSpPr>
        <p:spPr>
          <a:xfrm>
            <a:off x="868680" y="5349240"/>
            <a:ext cx="10424160" cy="640080"/>
          </a:xfrm>
          <a:prstGeom prst="rect">
            <a:avLst/>
          </a:prstGeom>
          <a:noFill/>
          <a:ln/>
        </p:spPr>
        <p:txBody>
          <a:bodyPr wrap="square" lIns="0" tIns="0" rIns="0" bIns="0" rtlCol="0" anchor="ctr"/>
          <a:lstStyle/>
          <a:p>
            <a:pPr indent="0" marL="0">
              <a:buNone/>
            </a:pPr>
            <a:r>
              <a:rPr lang="en-US" sz="1600" dirty="0">
                <a:solidFill>
                  <a:schemeClr val="bg1"/>
                </a:solidFill>
              </a:rPr>
              <a:t>Docker Compose chạy 3 container (web, api, db). Dữ liệu nằm trong volume pgdata, không mất khi khởi động lại.</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Công nghệ sử dụng</a:t>
            </a:r>
            <a:endParaRPr lang="en-US" sz="3400" dirty="0"/>
          </a:p>
        </p:txBody>
      </p:sp>
      <p:sp>
        <p:nvSpPr>
          <p:cNvPr id="3" name="Thẻ Backend"/>
          <p:cNvSpPr/>
          <p:nvPr/>
        </p:nvSpPr>
        <p:spPr>
          <a:xfrm>
            <a:off x="548640" y="1691640"/>
            <a:ext cx="2651760" cy="4297680"/>
          </a:xfrm>
          <a:prstGeom prst="roundRect">
            <a:avLst>
              <a:gd name="adj" fmla="val 4138"/>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4" name="Biểu tượng Backend nền"/>
          <p:cNvSpPr/>
          <p:nvPr/>
        </p:nvSpPr>
        <p:spPr>
          <a:xfrm>
            <a:off x="822960" y="1965960"/>
            <a:ext cx="731520" cy="731520"/>
          </a:xfrm>
          <a:prstGeom prst="ellipse">
            <a:avLst/>
          </a:prstGeom>
          <a:solidFill>
            <a:schemeClr val="accent1"/>
          </a:solidFill>
          <a:ln w="12700">
            <a:solidFill>
              <a:schemeClr val="accent1"/>
            </a:solidFill>
            <a:prstDash val="solid"/>
          </a:ln>
        </p:spPr>
      </p:sp>
      <p:pic>
        <p:nvPicPr>
          <p:cNvPr id="5" name="Biểu tượng Backend" descr="FaPython">    </p:cNvPr>
          <p:cNvPicPr>
            <a:picLocks noChangeAspect="1"/>
          </p:cNvPicPr>
          <p:nvPr/>
        </p:nvPicPr>
        <p:blipFill>
          <a:blip r:embed="rId1"/>
          <a:stretch>
            <a:fillRect/>
          </a:stretch>
        </p:blipFill>
        <p:spPr>
          <a:xfrm>
            <a:off x="1020470" y="2163470"/>
            <a:ext cx="336499" cy="336499"/>
          </a:xfrm>
          <a:prstGeom prst="rect">
            <a:avLst/>
          </a:prstGeom>
        </p:spPr>
      </p:pic>
      <p:sp>
        <p:nvSpPr>
          <p:cNvPr id="6" name="Text 3"/>
          <p:cNvSpPr txBox="1"/>
          <p:nvPr/>
        </p:nvSpPr>
        <p:spPr>
          <a:xfrm>
            <a:off x="822960" y="2926080"/>
            <a:ext cx="21945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Backend</a:t>
            </a:r>
            <a:endParaRPr lang="en-US" sz="2200" dirty="0"/>
          </a:p>
        </p:txBody>
      </p:sp>
      <p:sp>
        <p:nvSpPr>
          <p:cNvPr id="7" name="Text 4"/>
          <p:cNvSpPr txBox="1"/>
          <p:nvPr/>
        </p:nvSpPr>
        <p:spPr>
          <a:xfrm>
            <a:off x="822960" y="3520440"/>
            <a:ext cx="2194560" cy="23317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FastAPI 0.115</a:t>
            </a:r>
            <a:endParaRPr lang="en-US" sz="1800" dirty="0"/>
          </a:p>
          <a:p>
            <a:pPr marL="228600" indent="-228600">
              <a:spcAft>
                <a:spcPts val="1000"/>
              </a:spcAft>
              <a:buSzPct val="100000"/>
              <a:buChar char="•"/>
            </a:pPr>
            <a:r>
              <a:rPr lang="en-US" sz="1800" dirty="0">
                <a:solidFill>
                  <a:schemeClr val="tx1"/>
                </a:solidFill>
              </a:rPr>
              <a:t>SQLAlchemy 2.0</a:t>
            </a:r>
            <a:endParaRPr lang="en-US" sz="1800" dirty="0"/>
          </a:p>
          <a:p>
            <a:pPr marL="228600" indent="-228600">
              <a:spcAft>
                <a:spcPts val="1000"/>
              </a:spcAft>
              <a:buSzPct val="100000"/>
              <a:buChar char="•"/>
            </a:pPr>
            <a:r>
              <a:rPr lang="en-US" sz="1800" dirty="0">
                <a:solidFill>
                  <a:schemeClr val="tx1"/>
                </a:solidFill>
              </a:rPr>
              <a:t>Pydantic 2</a:t>
            </a:r>
            <a:endParaRPr lang="en-US" sz="1800" dirty="0"/>
          </a:p>
          <a:p>
            <a:pPr marL="228600" indent="-228600">
              <a:spcAft>
                <a:spcPts val="1000"/>
              </a:spcAft>
              <a:buSzPct val="100000"/>
              <a:buChar char="•"/>
            </a:pPr>
            <a:r>
              <a:rPr lang="en-US" sz="1800" dirty="0">
                <a:solidFill>
                  <a:schemeClr val="tx1"/>
                </a:solidFill>
              </a:rPr>
              <a:t>PyJWT, bcrypt</a:t>
            </a:r>
            <a:endParaRPr lang="en-US" sz="1800" dirty="0"/>
          </a:p>
          <a:p>
            <a:pPr marL="228600" indent="-228600">
              <a:spcAft>
                <a:spcPts val="1000"/>
              </a:spcAft>
              <a:buSzPct val="100000"/>
              <a:buChar char="•"/>
            </a:pPr>
            <a:r>
              <a:rPr lang="en-US" sz="1800" dirty="0">
                <a:solidFill>
                  <a:schemeClr val="tx1"/>
                </a:solidFill>
              </a:rPr>
              <a:t>pandas, openpyxl</a:t>
            </a:r>
            <a:endParaRPr lang="en-US" sz="1800" dirty="0"/>
          </a:p>
        </p:txBody>
      </p:sp>
      <p:sp>
        <p:nvSpPr>
          <p:cNvPr id="8" name="Thẻ Cơ sở dữ liệu"/>
          <p:cNvSpPr/>
          <p:nvPr/>
        </p:nvSpPr>
        <p:spPr>
          <a:xfrm>
            <a:off x="3346704" y="1691640"/>
            <a:ext cx="2651760" cy="4297680"/>
          </a:xfrm>
          <a:prstGeom prst="roundRect">
            <a:avLst>
              <a:gd name="adj" fmla="val 4138"/>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9" name="Biểu tượng Cơ sở dữ liệu nền"/>
          <p:cNvSpPr/>
          <p:nvPr/>
        </p:nvSpPr>
        <p:spPr>
          <a:xfrm>
            <a:off x="3621024" y="1965960"/>
            <a:ext cx="731520" cy="731520"/>
          </a:xfrm>
          <a:prstGeom prst="ellipse">
            <a:avLst/>
          </a:prstGeom>
          <a:solidFill>
            <a:schemeClr val="accent2"/>
          </a:solidFill>
          <a:ln w="12700">
            <a:solidFill>
              <a:schemeClr val="accent2"/>
            </a:solidFill>
            <a:prstDash val="solid"/>
          </a:ln>
        </p:spPr>
      </p:sp>
      <p:pic>
        <p:nvPicPr>
          <p:cNvPr id="10" name="Biểu tượng Cơ sở dữ liệu" descr="FaDatabase">    </p:cNvPr>
          <p:cNvPicPr>
            <a:picLocks noChangeAspect="1"/>
          </p:cNvPicPr>
          <p:nvPr/>
        </p:nvPicPr>
        <p:blipFill>
          <a:blip r:embed="rId2"/>
          <a:stretch>
            <a:fillRect/>
          </a:stretch>
        </p:blipFill>
        <p:spPr>
          <a:xfrm>
            <a:off x="3818534" y="2163470"/>
            <a:ext cx="336499" cy="336499"/>
          </a:xfrm>
          <a:prstGeom prst="rect">
            <a:avLst/>
          </a:prstGeom>
        </p:spPr>
      </p:pic>
      <p:sp>
        <p:nvSpPr>
          <p:cNvPr id="11" name="Text 7"/>
          <p:cNvSpPr txBox="1"/>
          <p:nvPr/>
        </p:nvSpPr>
        <p:spPr>
          <a:xfrm>
            <a:off x="3621024" y="2926080"/>
            <a:ext cx="21945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Cơ sở dữ liệu</a:t>
            </a:r>
            <a:endParaRPr lang="en-US" sz="2200" dirty="0"/>
          </a:p>
        </p:txBody>
      </p:sp>
      <p:sp>
        <p:nvSpPr>
          <p:cNvPr id="12" name="Text 8"/>
          <p:cNvSpPr txBox="1"/>
          <p:nvPr/>
        </p:nvSpPr>
        <p:spPr>
          <a:xfrm>
            <a:off x="3621024" y="3520440"/>
            <a:ext cx="2194560" cy="23317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PostgreSQL 16</a:t>
            </a:r>
            <a:endParaRPr lang="en-US" sz="1800" dirty="0"/>
          </a:p>
          <a:p>
            <a:pPr marL="228600" indent="-228600">
              <a:spcAft>
                <a:spcPts val="1000"/>
              </a:spcAft>
              <a:buSzPct val="100000"/>
              <a:buChar char="•"/>
            </a:pPr>
            <a:r>
              <a:rPr lang="en-US" sz="1800" dirty="0">
                <a:solidFill>
                  <a:schemeClr val="tx1"/>
                </a:solidFill>
              </a:rPr>
              <a:t>Alembic (migration)</a:t>
            </a:r>
            <a:endParaRPr lang="en-US" sz="1800" dirty="0"/>
          </a:p>
          <a:p>
            <a:pPr marL="228600" indent="-228600">
              <a:spcAft>
                <a:spcPts val="1000"/>
              </a:spcAft>
              <a:buSzPct val="100000"/>
              <a:buChar char="•"/>
            </a:pPr>
            <a:r>
              <a:rPr lang="en-US" sz="1800" dirty="0">
                <a:solidFill>
                  <a:schemeClr val="tx1"/>
                </a:solidFill>
              </a:rPr>
              <a:t>8 bảng</a:t>
            </a:r>
            <a:endParaRPr lang="en-US" sz="1800" dirty="0"/>
          </a:p>
          <a:p>
            <a:pPr marL="228600" indent="-228600">
              <a:spcAft>
                <a:spcPts val="1000"/>
              </a:spcAft>
              <a:buSzPct val="100000"/>
              <a:buChar char="•"/>
            </a:pPr>
            <a:r>
              <a:rPr lang="en-US" sz="1800" dirty="0">
                <a:solidFill>
                  <a:schemeClr val="tx1"/>
                </a:solidFill>
              </a:rPr>
              <a:t>Khóa ngoại, UNIQUE</a:t>
            </a:r>
            <a:endParaRPr lang="en-US" sz="1800" dirty="0"/>
          </a:p>
        </p:txBody>
      </p:sp>
      <p:sp>
        <p:nvSpPr>
          <p:cNvPr id="13" name="Thẻ Giao diện"/>
          <p:cNvSpPr/>
          <p:nvPr/>
        </p:nvSpPr>
        <p:spPr>
          <a:xfrm>
            <a:off x="6144768" y="1691640"/>
            <a:ext cx="2651760" cy="4297680"/>
          </a:xfrm>
          <a:prstGeom prst="roundRect">
            <a:avLst>
              <a:gd name="adj" fmla="val 4138"/>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4" name="Biểu tượng Giao diện nền"/>
          <p:cNvSpPr/>
          <p:nvPr/>
        </p:nvSpPr>
        <p:spPr>
          <a:xfrm>
            <a:off x="6419088" y="1965960"/>
            <a:ext cx="731520" cy="731520"/>
          </a:xfrm>
          <a:prstGeom prst="ellipse">
            <a:avLst/>
          </a:prstGeom>
          <a:solidFill>
            <a:schemeClr val="accent5"/>
          </a:solidFill>
          <a:ln w="12700">
            <a:solidFill>
              <a:schemeClr val="accent5"/>
            </a:solidFill>
            <a:prstDash val="solid"/>
          </a:ln>
        </p:spPr>
      </p:sp>
      <p:pic>
        <p:nvPicPr>
          <p:cNvPr id="15" name="Biểu tượng Giao diện" descr="FaReact">    </p:cNvPr>
          <p:cNvPicPr>
            <a:picLocks noChangeAspect="1"/>
          </p:cNvPicPr>
          <p:nvPr/>
        </p:nvPicPr>
        <p:blipFill>
          <a:blip r:embed="rId3"/>
          <a:stretch>
            <a:fillRect/>
          </a:stretch>
        </p:blipFill>
        <p:spPr>
          <a:xfrm>
            <a:off x="6616598" y="2163470"/>
            <a:ext cx="336499" cy="336499"/>
          </a:xfrm>
          <a:prstGeom prst="rect">
            <a:avLst/>
          </a:prstGeom>
        </p:spPr>
      </p:pic>
      <p:sp>
        <p:nvSpPr>
          <p:cNvPr id="16" name="Text 11"/>
          <p:cNvSpPr txBox="1"/>
          <p:nvPr/>
        </p:nvSpPr>
        <p:spPr>
          <a:xfrm>
            <a:off x="6419088" y="2926080"/>
            <a:ext cx="21945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Giao diện</a:t>
            </a:r>
            <a:endParaRPr lang="en-US" sz="2200" dirty="0"/>
          </a:p>
        </p:txBody>
      </p:sp>
      <p:sp>
        <p:nvSpPr>
          <p:cNvPr id="17" name="Text 12"/>
          <p:cNvSpPr txBox="1"/>
          <p:nvPr/>
        </p:nvSpPr>
        <p:spPr>
          <a:xfrm>
            <a:off x="6419088" y="3520440"/>
            <a:ext cx="2194560" cy="23317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React 19</a:t>
            </a:r>
            <a:endParaRPr lang="en-US" sz="1800" dirty="0"/>
          </a:p>
          <a:p>
            <a:pPr marL="228600" indent="-228600">
              <a:spcAft>
                <a:spcPts val="1000"/>
              </a:spcAft>
              <a:buSzPct val="100000"/>
              <a:buChar char="•"/>
            </a:pPr>
            <a:r>
              <a:rPr lang="en-US" sz="1800" dirty="0">
                <a:solidFill>
                  <a:schemeClr val="tx1"/>
                </a:solidFill>
              </a:rPr>
              <a:t>Vite 7</a:t>
            </a:r>
            <a:endParaRPr lang="en-US" sz="1800" dirty="0"/>
          </a:p>
          <a:p>
            <a:pPr marL="228600" indent="-228600">
              <a:spcAft>
                <a:spcPts val="1000"/>
              </a:spcAft>
              <a:buSzPct val="100000"/>
              <a:buChar char="•"/>
            </a:pPr>
            <a:r>
              <a:rPr lang="en-US" sz="1800" dirty="0">
                <a:solidFill>
                  <a:schemeClr val="tx1"/>
                </a:solidFill>
              </a:rPr>
              <a:t>Tailwind CSS 3</a:t>
            </a:r>
            <a:endParaRPr lang="en-US" sz="1800" dirty="0"/>
          </a:p>
          <a:p>
            <a:pPr marL="228600" indent="-228600">
              <a:spcAft>
                <a:spcPts val="1000"/>
              </a:spcAft>
              <a:buSzPct val="100000"/>
              <a:buChar char="•"/>
            </a:pPr>
            <a:r>
              <a:rPr lang="en-US" sz="1800" dirty="0">
                <a:solidFill>
                  <a:schemeClr val="tx1"/>
                </a:solidFill>
              </a:rPr>
              <a:t>react-router 7</a:t>
            </a:r>
            <a:endParaRPr lang="en-US" sz="1800" dirty="0"/>
          </a:p>
        </p:txBody>
      </p:sp>
      <p:sp>
        <p:nvSpPr>
          <p:cNvPr id="18" name="Thẻ Vận hành"/>
          <p:cNvSpPr/>
          <p:nvPr/>
        </p:nvSpPr>
        <p:spPr>
          <a:xfrm>
            <a:off x="8942832" y="1691640"/>
            <a:ext cx="2651760" cy="4297680"/>
          </a:xfrm>
          <a:prstGeom prst="roundRect">
            <a:avLst>
              <a:gd name="adj" fmla="val 4138"/>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9" name="Biểu tượng Vận hành nền"/>
          <p:cNvSpPr/>
          <p:nvPr/>
        </p:nvSpPr>
        <p:spPr>
          <a:xfrm>
            <a:off x="9217152" y="1965960"/>
            <a:ext cx="731520" cy="731520"/>
          </a:xfrm>
          <a:prstGeom prst="ellipse">
            <a:avLst/>
          </a:prstGeom>
          <a:solidFill>
            <a:schemeClr val="accent3"/>
          </a:solidFill>
          <a:ln w="12700">
            <a:solidFill>
              <a:schemeClr val="accent3"/>
            </a:solidFill>
            <a:prstDash val="solid"/>
          </a:ln>
        </p:spPr>
      </p:sp>
      <p:pic>
        <p:nvPicPr>
          <p:cNvPr id="20" name="Biểu tượng Vận hành" descr="FaDocker">    </p:cNvPr>
          <p:cNvPicPr>
            <a:picLocks noChangeAspect="1"/>
          </p:cNvPicPr>
          <p:nvPr/>
        </p:nvPicPr>
        <p:blipFill>
          <a:blip r:embed="rId4"/>
          <a:stretch>
            <a:fillRect/>
          </a:stretch>
        </p:blipFill>
        <p:spPr>
          <a:xfrm>
            <a:off x="9414662" y="2163470"/>
            <a:ext cx="336499" cy="336499"/>
          </a:xfrm>
          <a:prstGeom prst="rect">
            <a:avLst/>
          </a:prstGeom>
        </p:spPr>
      </p:pic>
      <p:sp>
        <p:nvSpPr>
          <p:cNvPr id="21" name="Text 15"/>
          <p:cNvSpPr txBox="1"/>
          <p:nvPr/>
        </p:nvSpPr>
        <p:spPr>
          <a:xfrm>
            <a:off x="9217152" y="2926080"/>
            <a:ext cx="21945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Vận hành</a:t>
            </a:r>
            <a:endParaRPr lang="en-US" sz="2200" dirty="0"/>
          </a:p>
        </p:txBody>
      </p:sp>
      <p:sp>
        <p:nvSpPr>
          <p:cNvPr id="22" name="Text 16"/>
          <p:cNvSpPr txBox="1"/>
          <p:nvPr/>
        </p:nvSpPr>
        <p:spPr>
          <a:xfrm>
            <a:off x="9217152" y="3520440"/>
            <a:ext cx="2194560" cy="23317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Docker Compose</a:t>
            </a:r>
            <a:endParaRPr lang="en-US" sz="1800" dirty="0"/>
          </a:p>
          <a:p>
            <a:pPr marL="228600" indent="-228600">
              <a:spcAft>
                <a:spcPts val="1000"/>
              </a:spcAft>
              <a:buSzPct val="100000"/>
              <a:buChar char="•"/>
            </a:pPr>
            <a:r>
              <a:rPr lang="en-US" sz="1800" dirty="0">
                <a:solidFill>
                  <a:schemeClr val="tx1"/>
                </a:solidFill>
              </a:rPr>
              <a:t>nginx 1.27</a:t>
            </a:r>
            <a:endParaRPr lang="en-US" sz="1800" dirty="0"/>
          </a:p>
          <a:p>
            <a:pPr marL="228600" indent="-228600">
              <a:spcAft>
                <a:spcPts val="1000"/>
              </a:spcAft>
              <a:buSzPct val="100000"/>
              <a:buChar char="•"/>
            </a:pPr>
            <a:r>
              <a:rPr lang="en-US" sz="1800" dirty="0">
                <a:solidFill>
                  <a:schemeClr val="tx1"/>
                </a:solidFill>
              </a:rPr>
              <a:t>pytest: 15 test</a:t>
            </a:r>
            <a:endParaRPr lang="en-US" sz="1800" dirty="0"/>
          </a:p>
          <a:p>
            <a:pPr marL="228600" indent="-228600">
              <a:spcAft>
                <a:spcPts val="1000"/>
              </a:spcAft>
              <a:buSzPct val="100000"/>
              <a:buChar char="•"/>
            </a:pPr>
            <a:r>
              <a:rPr lang="en-US" sz="1800" dirty="0">
                <a:solidFill>
                  <a:schemeClr val="tx1"/>
                </a:solidFill>
              </a:rPr>
              <a:t>Git, GitHub</a:t>
            </a:r>
            <a:endParaRPr lang="en-US" sz="18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Thiết kế cơ sở dữ liệu</a:t>
            </a:r>
            <a:endParaRPr lang="en-US" sz="3400" dirty="0"/>
          </a:p>
        </p:txBody>
      </p:sp>
      <p:sp>
        <p:nvSpPr>
          <p:cNvPr id="3" name="Quan hệ"/>
          <p:cNvSpPr/>
          <p:nvPr/>
        </p:nvSpPr>
        <p:spPr>
          <a:xfrm flipV="1">
            <a:off x="3474720" y="2011680"/>
            <a:ext cx="1143000" cy="1325880"/>
          </a:xfrm>
          <a:prstGeom prst="line">
            <a:avLst/>
          </a:prstGeom>
          <a:noFill/>
          <a:ln w="19050">
            <a:solidFill>
              <a:schemeClr val="accent6"/>
            </a:solidFill>
            <a:prstDash val="solid"/>
          </a:ln>
        </p:spPr>
      </p:sp>
      <p:sp>
        <p:nvSpPr>
          <p:cNvPr id="4" name="Quan hệ"/>
          <p:cNvSpPr/>
          <p:nvPr/>
        </p:nvSpPr>
        <p:spPr>
          <a:xfrm>
            <a:off x="7543800" y="2011680"/>
            <a:ext cx="1143000" cy="1188720"/>
          </a:xfrm>
          <a:prstGeom prst="line">
            <a:avLst/>
          </a:prstGeom>
          <a:noFill/>
          <a:ln w="19050">
            <a:solidFill>
              <a:schemeClr val="accent6"/>
            </a:solidFill>
            <a:prstDash val="solid"/>
          </a:ln>
        </p:spPr>
      </p:sp>
      <p:sp>
        <p:nvSpPr>
          <p:cNvPr id="5" name="Quan hệ"/>
          <p:cNvSpPr/>
          <p:nvPr/>
        </p:nvSpPr>
        <p:spPr>
          <a:xfrm>
            <a:off x="3474720" y="3337560"/>
            <a:ext cx="1143000" cy="91440"/>
          </a:xfrm>
          <a:prstGeom prst="line">
            <a:avLst/>
          </a:prstGeom>
          <a:noFill/>
          <a:ln w="19050">
            <a:solidFill>
              <a:schemeClr val="accent6"/>
            </a:solidFill>
            <a:prstDash val="solid"/>
          </a:ln>
        </p:spPr>
      </p:sp>
      <p:sp>
        <p:nvSpPr>
          <p:cNvPr id="6" name="Quan hệ"/>
          <p:cNvSpPr/>
          <p:nvPr/>
        </p:nvSpPr>
        <p:spPr>
          <a:xfrm flipV="1">
            <a:off x="7543800" y="3200400"/>
            <a:ext cx="1143000" cy="228600"/>
          </a:xfrm>
          <a:prstGeom prst="line">
            <a:avLst/>
          </a:prstGeom>
          <a:noFill/>
          <a:ln w="19050">
            <a:solidFill>
              <a:schemeClr val="accent6"/>
            </a:solidFill>
            <a:prstDash val="solid"/>
          </a:ln>
        </p:spPr>
      </p:sp>
      <p:sp>
        <p:nvSpPr>
          <p:cNvPr id="7" name="Quan hệ"/>
          <p:cNvSpPr/>
          <p:nvPr/>
        </p:nvSpPr>
        <p:spPr>
          <a:xfrm>
            <a:off x="3474720" y="3337560"/>
            <a:ext cx="1143000" cy="1508760"/>
          </a:xfrm>
          <a:prstGeom prst="line">
            <a:avLst/>
          </a:prstGeom>
          <a:noFill/>
          <a:ln w="19050">
            <a:solidFill>
              <a:schemeClr val="accent6"/>
            </a:solidFill>
            <a:prstDash val="solid"/>
          </a:ln>
        </p:spPr>
      </p:sp>
      <p:sp>
        <p:nvSpPr>
          <p:cNvPr id="8" name="Quan hệ"/>
          <p:cNvSpPr/>
          <p:nvPr/>
        </p:nvSpPr>
        <p:spPr>
          <a:xfrm flipV="1">
            <a:off x="7543800" y="3200400"/>
            <a:ext cx="1143000" cy="1645920"/>
          </a:xfrm>
          <a:prstGeom prst="line">
            <a:avLst/>
          </a:prstGeom>
          <a:noFill/>
          <a:ln w="19050">
            <a:solidFill>
              <a:schemeClr val="accent6"/>
            </a:solidFill>
            <a:prstDash val="solid"/>
          </a:ln>
        </p:spPr>
      </p:sp>
      <p:sp>
        <p:nvSpPr>
          <p:cNvPr id="9" name="Bảng users"/>
          <p:cNvSpPr/>
          <p:nvPr/>
        </p:nvSpPr>
        <p:spPr>
          <a:xfrm>
            <a:off x="548640" y="2331720"/>
            <a:ext cx="2926080" cy="2011680"/>
          </a:xfrm>
          <a:prstGeom prst="roundRect">
            <a:avLst>
              <a:gd name="adj" fmla="val 3636"/>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sp>
        <p:nvSpPr>
          <p:cNvPr id="10" name="Tiêu đề bảng users"/>
          <p:cNvSpPr/>
          <p:nvPr/>
        </p:nvSpPr>
        <p:spPr>
          <a:xfrm>
            <a:off x="548640" y="2331720"/>
            <a:ext cx="2926080" cy="347472"/>
          </a:xfrm>
          <a:prstGeom prst="rect">
            <a:avLst/>
          </a:prstGeom>
          <a:solidFill>
            <a:schemeClr val="accent1"/>
          </a:solidFill>
          <a:ln w="12700">
            <a:solidFill>
              <a:schemeClr val="accent1"/>
            </a:solidFill>
            <a:prstDash val="solid"/>
          </a:ln>
        </p:spPr>
      </p:sp>
      <p:sp>
        <p:nvSpPr>
          <p:cNvPr id="11" name="Text 9"/>
          <p:cNvSpPr txBox="1"/>
          <p:nvPr/>
        </p:nvSpPr>
        <p:spPr>
          <a:xfrm>
            <a:off x="658368" y="2331720"/>
            <a:ext cx="2743200" cy="347472"/>
          </a:xfrm>
          <a:prstGeom prst="rect">
            <a:avLst/>
          </a:prstGeom>
          <a:noFill/>
          <a:ln/>
        </p:spPr>
        <p:txBody>
          <a:bodyPr wrap="square" lIns="0" tIns="0" rIns="0" bIns="0" rtlCol="0" anchor="ctr"/>
          <a:lstStyle/>
          <a:p>
            <a:pPr indent="0" marL="0">
              <a:buNone/>
            </a:pPr>
            <a:r>
              <a:rPr lang="en-US" sz="1400" b="1" dirty="0">
                <a:solidFill>
                  <a:schemeClr val="bg1"/>
                </a:solidFill>
              </a:rPr>
              <a:t>users</a:t>
            </a:r>
            <a:endParaRPr lang="en-US" sz="1400" dirty="0"/>
          </a:p>
        </p:txBody>
      </p:sp>
      <p:sp>
        <p:nvSpPr>
          <p:cNvPr id="12" name="Text 10"/>
          <p:cNvSpPr txBox="1"/>
          <p:nvPr/>
        </p:nvSpPr>
        <p:spPr>
          <a:xfrm>
            <a:off x="658368" y="2743200"/>
            <a:ext cx="2706624" cy="1554480"/>
          </a:xfrm>
          <a:prstGeom prst="rect">
            <a:avLst/>
          </a:prstGeom>
          <a:noFill/>
          <a:ln/>
        </p:spPr>
        <p:txBody>
          <a:bodyPr wrap="square" lIns="0" tIns="0" rIns="0" bIns="0" rtlCol="0" anchor="t"/>
          <a:lstStyle/>
          <a:p>
            <a:pPr indent="0" marL="0">
              <a:buNone/>
            </a:pPr>
            <a:r>
              <a:rPr lang="en-US" sz="1200" dirty="0">
                <a:solidFill>
                  <a:schemeClr val="tx1"/>
                </a:solidFill>
              </a:rPr>
              <a:t>id (khóa chính)</a:t>
            </a:r>
            <a:endParaRPr lang="en-US" sz="1200" dirty="0"/>
          </a:p>
          <a:p>
            <a:pPr indent="0" marL="0">
              <a:buNone/>
            </a:pPr>
            <a:r>
              <a:rPr lang="en-US" sz="1200" dirty="0">
                <a:solidFill>
                  <a:schemeClr val="tx1"/>
                </a:solidFill>
              </a:rPr>
              <a:t>username (duy nhất)</a:t>
            </a:r>
            <a:endParaRPr lang="en-US" sz="1200" dirty="0"/>
          </a:p>
          <a:p>
            <a:pPr indent="0" marL="0">
              <a:buNone/>
            </a:pPr>
            <a:r>
              <a:rPr lang="en-US" sz="1200" dirty="0">
                <a:solidFill>
                  <a:schemeClr val="tx1"/>
                </a:solidFill>
              </a:rPr>
              <a:t>full_name, role</a:t>
            </a:r>
            <a:endParaRPr lang="en-US" sz="1200" dirty="0"/>
          </a:p>
          <a:p>
            <a:pPr indent="0" marL="0">
              <a:buNone/>
            </a:pPr>
            <a:r>
              <a:rPr lang="en-US" sz="1200" dirty="0">
                <a:solidFill>
                  <a:schemeClr val="tx1"/>
                </a:solidFill>
              </a:rPr>
              <a:t>password_hash</a:t>
            </a:r>
            <a:endParaRPr lang="en-US" sz="1200" dirty="0"/>
          </a:p>
          <a:p>
            <a:pPr indent="0" marL="0">
              <a:buNone/>
            </a:pPr>
            <a:r>
              <a:rPr lang="en-US" sz="1200" dirty="0">
                <a:solidFill>
                  <a:schemeClr val="tx1"/>
                </a:solidFill>
              </a:rPr>
              <a:t>is_active, locked_until</a:t>
            </a:r>
            <a:endParaRPr lang="en-US" sz="1200" dirty="0"/>
          </a:p>
        </p:txBody>
      </p:sp>
      <p:sp>
        <p:nvSpPr>
          <p:cNvPr id="13" name="Bảng classes"/>
          <p:cNvSpPr/>
          <p:nvPr/>
        </p:nvSpPr>
        <p:spPr>
          <a:xfrm>
            <a:off x="8686800" y="2331720"/>
            <a:ext cx="2926080" cy="1737360"/>
          </a:xfrm>
          <a:prstGeom prst="roundRect">
            <a:avLst>
              <a:gd name="adj" fmla="val 4211"/>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sp>
        <p:nvSpPr>
          <p:cNvPr id="14" name="Tiêu đề bảng classes"/>
          <p:cNvSpPr/>
          <p:nvPr/>
        </p:nvSpPr>
        <p:spPr>
          <a:xfrm>
            <a:off x="8686800" y="2331720"/>
            <a:ext cx="2926080" cy="347472"/>
          </a:xfrm>
          <a:prstGeom prst="rect">
            <a:avLst/>
          </a:prstGeom>
          <a:solidFill>
            <a:schemeClr val="accent5"/>
          </a:solidFill>
          <a:ln w="12700">
            <a:solidFill>
              <a:schemeClr val="accent5"/>
            </a:solidFill>
            <a:prstDash val="solid"/>
          </a:ln>
        </p:spPr>
      </p:sp>
      <p:sp>
        <p:nvSpPr>
          <p:cNvPr id="15" name="Text 13"/>
          <p:cNvSpPr txBox="1"/>
          <p:nvPr/>
        </p:nvSpPr>
        <p:spPr>
          <a:xfrm>
            <a:off x="8796528" y="2331720"/>
            <a:ext cx="2743200" cy="347472"/>
          </a:xfrm>
          <a:prstGeom prst="rect">
            <a:avLst/>
          </a:prstGeom>
          <a:noFill/>
          <a:ln/>
        </p:spPr>
        <p:txBody>
          <a:bodyPr wrap="square" lIns="0" tIns="0" rIns="0" bIns="0" rtlCol="0" anchor="ctr"/>
          <a:lstStyle/>
          <a:p>
            <a:pPr indent="0" marL="0">
              <a:buNone/>
            </a:pPr>
            <a:r>
              <a:rPr lang="en-US" sz="1400" b="1" dirty="0">
                <a:solidFill>
                  <a:schemeClr val="bg1"/>
                </a:solidFill>
              </a:rPr>
              <a:t>classes</a:t>
            </a:r>
            <a:endParaRPr lang="en-US" sz="1400" dirty="0"/>
          </a:p>
        </p:txBody>
      </p:sp>
      <p:sp>
        <p:nvSpPr>
          <p:cNvPr id="16" name="Text 14"/>
          <p:cNvSpPr txBox="1"/>
          <p:nvPr/>
        </p:nvSpPr>
        <p:spPr>
          <a:xfrm>
            <a:off x="8796528" y="2743200"/>
            <a:ext cx="2706624" cy="1280160"/>
          </a:xfrm>
          <a:prstGeom prst="rect">
            <a:avLst/>
          </a:prstGeom>
          <a:noFill/>
          <a:ln/>
        </p:spPr>
        <p:txBody>
          <a:bodyPr wrap="square" lIns="0" tIns="0" rIns="0" bIns="0" rtlCol="0" anchor="t"/>
          <a:lstStyle/>
          <a:p>
            <a:pPr indent="0" marL="0">
              <a:buNone/>
            </a:pPr>
            <a:r>
              <a:rPr lang="en-US" sz="1200" dirty="0">
                <a:solidFill>
                  <a:schemeClr val="tx1"/>
                </a:solidFill>
              </a:rPr>
              <a:t>id (khóa chính)</a:t>
            </a:r>
            <a:endParaRPr lang="en-US" sz="1200" dirty="0"/>
          </a:p>
          <a:p>
            <a:pPr indent="0" marL="0">
              <a:buNone/>
            </a:pPr>
            <a:r>
              <a:rPr lang="en-US" sz="1200" dirty="0">
                <a:solidFill>
                  <a:schemeClr val="tx1"/>
                </a:solidFill>
              </a:rPr>
              <a:t>code (duy nhất), name</a:t>
            </a:r>
            <a:endParaRPr lang="en-US" sz="1200" dirty="0"/>
          </a:p>
          <a:p>
            <a:pPr indent="0" marL="0">
              <a:buNone/>
            </a:pPr>
            <a:r>
              <a:rPr lang="en-US" sz="1200" dirty="0">
                <a:solidFill>
                  <a:schemeClr val="tx1"/>
                </a:solidFill>
              </a:rPr>
              <a:t>schedule</a:t>
            </a:r>
            <a:endParaRPr lang="en-US" sz="1200" dirty="0"/>
          </a:p>
          <a:p>
            <a:pPr indent="0" marL="0">
              <a:buNone/>
            </a:pPr>
            <a:r>
              <a:rPr lang="en-US" sz="1200" dirty="0">
                <a:solidFill>
                  <a:schemeClr val="tx1"/>
                </a:solidFill>
              </a:rPr>
              <a:t>teacher_id → users</a:t>
            </a:r>
            <a:endParaRPr lang="en-US" sz="1200" dirty="0"/>
          </a:p>
        </p:txBody>
      </p:sp>
      <p:sp>
        <p:nvSpPr>
          <p:cNvPr id="17" name="Bảng enrollments"/>
          <p:cNvSpPr/>
          <p:nvPr/>
        </p:nvSpPr>
        <p:spPr>
          <a:xfrm>
            <a:off x="4617720" y="1463040"/>
            <a:ext cx="2926080" cy="1097280"/>
          </a:xfrm>
          <a:prstGeom prst="roundRect">
            <a:avLst>
              <a:gd name="adj" fmla="val 6667"/>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sp>
        <p:nvSpPr>
          <p:cNvPr id="18" name="Tiêu đề bảng enrollments"/>
          <p:cNvSpPr/>
          <p:nvPr/>
        </p:nvSpPr>
        <p:spPr>
          <a:xfrm>
            <a:off x="4617720" y="1463040"/>
            <a:ext cx="2926080" cy="347472"/>
          </a:xfrm>
          <a:prstGeom prst="rect">
            <a:avLst/>
          </a:prstGeom>
          <a:solidFill>
            <a:schemeClr val="accent2"/>
          </a:solidFill>
          <a:ln w="12700">
            <a:solidFill>
              <a:schemeClr val="accent2"/>
            </a:solidFill>
            <a:prstDash val="solid"/>
          </a:ln>
        </p:spPr>
      </p:sp>
      <p:sp>
        <p:nvSpPr>
          <p:cNvPr id="19" name="Text 17"/>
          <p:cNvSpPr txBox="1"/>
          <p:nvPr/>
        </p:nvSpPr>
        <p:spPr>
          <a:xfrm>
            <a:off x="4727448" y="1463040"/>
            <a:ext cx="2743200" cy="347472"/>
          </a:xfrm>
          <a:prstGeom prst="rect">
            <a:avLst/>
          </a:prstGeom>
          <a:noFill/>
          <a:ln/>
        </p:spPr>
        <p:txBody>
          <a:bodyPr wrap="square" lIns="0" tIns="0" rIns="0" bIns="0" rtlCol="0" anchor="ctr"/>
          <a:lstStyle/>
          <a:p>
            <a:pPr indent="0" marL="0">
              <a:buNone/>
            </a:pPr>
            <a:r>
              <a:rPr lang="en-US" sz="1400" b="1" dirty="0">
                <a:solidFill>
                  <a:schemeClr val="bg1"/>
                </a:solidFill>
              </a:rPr>
              <a:t>enrollments</a:t>
            </a:r>
            <a:endParaRPr lang="en-US" sz="1400" dirty="0"/>
          </a:p>
        </p:txBody>
      </p:sp>
      <p:sp>
        <p:nvSpPr>
          <p:cNvPr id="20" name="Text 18"/>
          <p:cNvSpPr txBox="1"/>
          <p:nvPr/>
        </p:nvSpPr>
        <p:spPr>
          <a:xfrm>
            <a:off x="4727448" y="1874520"/>
            <a:ext cx="2706624" cy="640080"/>
          </a:xfrm>
          <a:prstGeom prst="rect">
            <a:avLst/>
          </a:prstGeom>
          <a:noFill/>
          <a:ln/>
        </p:spPr>
        <p:txBody>
          <a:bodyPr wrap="square" lIns="0" tIns="0" rIns="0" bIns="0" rtlCol="0" anchor="t"/>
          <a:lstStyle/>
          <a:p>
            <a:pPr indent="0" marL="0">
              <a:buNone/>
            </a:pPr>
            <a:r>
              <a:rPr lang="en-US" sz="1200" dirty="0">
                <a:solidFill>
                  <a:schemeClr val="tx1"/>
                </a:solidFill>
              </a:rPr>
              <a:t>class_id → classes</a:t>
            </a:r>
            <a:endParaRPr lang="en-US" sz="1200" dirty="0"/>
          </a:p>
          <a:p>
            <a:pPr indent="0" marL="0">
              <a:buNone/>
            </a:pPr>
            <a:r>
              <a:rPr lang="en-US" sz="1200" dirty="0">
                <a:solidFill>
                  <a:schemeClr val="tx1"/>
                </a:solidFill>
              </a:rPr>
              <a:t>student_id → users</a:t>
            </a:r>
            <a:endParaRPr lang="en-US" sz="1200" dirty="0"/>
          </a:p>
          <a:p>
            <a:pPr indent="0" marL="0">
              <a:buNone/>
            </a:pPr>
            <a:r>
              <a:rPr lang="en-US" sz="1200" dirty="0">
                <a:solidFill>
                  <a:schemeClr val="tx1"/>
                </a:solidFill>
              </a:rPr>
              <a:t>duy nhất (lớp, học viên)</a:t>
            </a:r>
            <a:endParaRPr lang="en-US" sz="1200" dirty="0"/>
          </a:p>
        </p:txBody>
      </p:sp>
      <p:sp>
        <p:nvSpPr>
          <p:cNvPr id="21" name="Bảng attendance"/>
          <p:cNvSpPr/>
          <p:nvPr/>
        </p:nvSpPr>
        <p:spPr>
          <a:xfrm>
            <a:off x="4617720" y="2880360"/>
            <a:ext cx="2926080" cy="1097280"/>
          </a:xfrm>
          <a:prstGeom prst="roundRect">
            <a:avLst>
              <a:gd name="adj" fmla="val 6667"/>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sp>
        <p:nvSpPr>
          <p:cNvPr id="22" name="Tiêu đề bảng attendance"/>
          <p:cNvSpPr/>
          <p:nvPr/>
        </p:nvSpPr>
        <p:spPr>
          <a:xfrm>
            <a:off x="4617720" y="2880360"/>
            <a:ext cx="2926080" cy="347472"/>
          </a:xfrm>
          <a:prstGeom prst="rect">
            <a:avLst/>
          </a:prstGeom>
          <a:solidFill>
            <a:schemeClr val="accent2"/>
          </a:solidFill>
          <a:ln w="12700">
            <a:solidFill>
              <a:schemeClr val="accent2"/>
            </a:solidFill>
            <a:prstDash val="solid"/>
          </a:ln>
        </p:spPr>
      </p:sp>
      <p:sp>
        <p:nvSpPr>
          <p:cNvPr id="23" name="Text 21"/>
          <p:cNvSpPr txBox="1"/>
          <p:nvPr/>
        </p:nvSpPr>
        <p:spPr>
          <a:xfrm>
            <a:off x="4727448" y="2880360"/>
            <a:ext cx="2743200" cy="347472"/>
          </a:xfrm>
          <a:prstGeom prst="rect">
            <a:avLst/>
          </a:prstGeom>
          <a:noFill/>
          <a:ln/>
        </p:spPr>
        <p:txBody>
          <a:bodyPr wrap="square" lIns="0" tIns="0" rIns="0" bIns="0" rtlCol="0" anchor="ctr"/>
          <a:lstStyle/>
          <a:p>
            <a:pPr indent="0" marL="0">
              <a:buNone/>
            </a:pPr>
            <a:r>
              <a:rPr lang="en-US" sz="1400" b="1" dirty="0">
                <a:solidFill>
                  <a:schemeClr val="bg1"/>
                </a:solidFill>
              </a:rPr>
              <a:t>attendance</a:t>
            </a:r>
            <a:endParaRPr lang="en-US" sz="1400" dirty="0"/>
          </a:p>
        </p:txBody>
      </p:sp>
      <p:sp>
        <p:nvSpPr>
          <p:cNvPr id="24" name="Text 22"/>
          <p:cNvSpPr txBox="1"/>
          <p:nvPr/>
        </p:nvSpPr>
        <p:spPr>
          <a:xfrm>
            <a:off x="4727448" y="3291840"/>
            <a:ext cx="2706624" cy="640080"/>
          </a:xfrm>
          <a:prstGeom prst="rect">
            <a:avLst/>
          </a:prstGeom>
          <a:noFill/>
          <a:ln/>
        </p:spPr>
        <p:txBody>
          <a:bodyPr wrap="square" lIns="0" tIns="0" rIns="0" bIns="0" rtlCol="0" anchor="t"/>
          <a:lstStyle/>
          <a:p>
            <a:pPr indent="0" marL="0">
              <a:buNone/>
            </a:pPr>
            <a:r>
              <a:rPr lang="en-US" sz="1200" dirty="0">
                <a:solidFill>
                  <a:schemeClr val="tx1"/>
                </a:solidFill>
              </a:rPr>
              <a:t>class_id, student_id</a:t>
            </a:r>
            <a:endParaRPr lang="en-US" sz="1200" dirty="0"/>
          </a:p>
          <a:p>
            <a:pPr indent="0" marL="0">
              <a:buNone/>
            </a:pPr>
            <a:r>
              <a:rPr lang="en-US" sz="1200" dirty="0">
                <a:solidFill>
                  <a:schemeClr val="tx1"/>
                </a:solidFill>
              </a:rPr>
              <a:t>date, status, note</a:t>
            </a:r>
            <a:endParaRPr lang="en-US" sz="1200" dirty="0"/>
          </a:p>
          <a:p>
            <a:pPr indent="0" marL="0">
              <a:buNone/>
            </a:pPr>
            <a:r>
              <a:rPr lang="en-US" sz="1200" dirty="0">
                <a:solidFill>
                  <a:schemeClr val="tx1"/>
                </a:solidFill>
              </a:rPr>
              <a:t>duy nhất (lớp, học viên, ngày)</a:t>
            </a:r>
            <a:endParaRPr lang="en-US" sz="1200" dirty="0"/>
          </a:p>
        </p:txBody>
      </p:sp>
      <p:sp>
        <p:nvSpPr>
          <p:cNvPr id="25" name="Bảng scores"/>
          <p:cNvSpPr/>
          <p:nvPr/>
        </p:nvSpPr>
        <p:spPr>
          <a:xfrm>
            <a:off x="4617720" y="4297680"/>
            <a:ext cx="2926080" cy="1097280"/>
          </a:xfrm>
          <a:prstGeom prst="roundRect">
            <a:avLst>
              <a:gd name="adj" fmla="val 6667"/>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sp>
        <p:nvSpPr>
          <p:cNvPr id="26" name="Tiêu đề bảng scores"/>
          <p:cNvSpPr/>
          <p:nvPr/>
        </p:nvSpPr>
        <p:spPr>
          <a:xfrm>
            <a:off x="4617720" y="4297680"/>
            <a:ext cx="2926080" cy="347472"/>
          </a:xfrm>
          <a:prstGeom prst="rect">
            <a:avLst/>
          </a:prstGeom>
          <a:solidFill>
            <a:schemeClr val="accent2"/>
          </a:solidFill>
          <a:ln w="12700">
            <a:solidFill>
              <a:schemeClr val="accent2"/>
            </a:solidFill>
            <a:prstDash val="solid"/>
          </a:ln>
        </p:spPr>
      </p:sp>
      <p:sp>
        <p:nvSpPr>
          <p:cNvPr id="27" name="Text 25"/>
          <p:cNvSpPr txBox="1"/>
          <p:nvPr/>
        </p:nvSpPr>
        <p:spPr>
          <a:xfrm>
            <a:off x="4727448" y="4297680"/>
            <a:ext cx="2743200" cy="347472"/>
          </a:xfrm>
          <a:prstGeom prst="rect">
            <a:avLst/>
          </a:prstGeom>
          <a:noFill/>
          <a:ln/>
        </p:spPr>
        <p:txBody>
          <a:bodyPr wrap="square" lIns="0" tIns="0" rIns="0" bIns="0" rtlCol="0" anchor="ctr"/>
          <a:lstStyle/>
          <a:p>
            <a:pPr indent="0" marL="0">
              <a:buNone/>
            </a:pPr>
            <a:r>
              <a:rPr lang="en-US" sz="1400" b="1" dirty="0">
                <a:solidFill>
                  <a:schemeClr val="bg1"/>
                </a:solidFill>
              </a:rPr>
              <a:t>scores</a:t>
            </a:r>
            <a:endParaRPr lang="en-US" sz="1400" dirty="0"/>
          </a:p>
        </p:txBody>
      </p:sp>
      <p:sp>
        <p:nvSpPr>
          <p:cNvPr id="28" name="Text 26"/>
          <p:cNvSpPr txBox="1"/>
          <p:nvPr/>
        </p:nvSpPr>
        <p:spPr>
          <a:xfrm>
            <a:off x="4727448" y="4709160"/>
            <a:ext cx="2706624" cy="640080"/>
          </a:xfrm>
          <a:prstGeom prst="rect">
            <a:avLst/>
          </a:prstGeom>
          <a:noFill/>
          <a:ln/>
        </p:spPr>
        <p:txBody>
          <a:bodyPr wrap="square" lIns="0" tIns="0" rIns="0" bIns="0" rtlCol="0" anchor="t"/>
          <a:lstStyle/>
          <a:p>
            <a:pPr indent="0" marL="0">
              <a:buNone/>
            </a:pPr>
            <a:r>
              <a:rPr lang="en-US" sz="1200" dirty="0">
                <a:solidFill>
                  <a:schemeClr val="tx1"/>
                </a:solidFill>
              </a:rPr>
              <a:t>class_id, student_id</a:t>
            </a:r>
            <a:endParaRPr lang="en-US" sz="1200" dirty="0"/>
          </a:p>
          <a:p>
            <a:pPr indent="0" marL="0">
              <a:buNone/>
            </a:pPr>
            <a:r>
              <a:rPr lang="en-US" sz="1200" dirty="0">
                <a:solidFill>
                  <a:schemeClr val="tx1"/>
                </a:solidFill>
              </a:rPr>
              <a:t>kind, value, max_value</a:t>
            </a:r>
            <a:endParaRPr lang="en-US" sz="1200" dirty="0"/>
          </a:p>
        </p:txBody>
      </p:sp>
      <p:sp>
        <p:nvSpPr>
          <p:cNvPr id="29" name="Bảng phụ tuition_records"/>
          <p:cNvSpPr/>
          <p:nvPr/>
        </p:nvSpPr>
        <p:spPr>
          <a:xfrm>
            <a:off x="548640" y="5596128"/>
            <a:ext cx="3931920" cy="731520"/>
          </a:xfrm>
          <a:prstGeom prst="roundRect">
            <a:avLst>
              <a:gd name="adj" fmla="val 10000"/>
            </a:avLst>
          </a:prstGeom>
          <a:solidFill>
            <a:schemeClr val="bg1"/>
          </a:solidFill>
          <a:ln w="9525">
            <a:solidFill>
              <a:srgbClr val="CBD5E1"/>
            </a:solidFill>
            <a:prstDash val="solid"/>
          </a:ln>
        </p:spPr>
      </p:sp>
      <p:sp>
        <p:nvSpPr>
          <p:cNvPr id="30" name="Text 28"/>
          <p:cNvSpPr txBox="1"/>
          <p:nvPr/>
        </p:nvSpPr>
        <p:spPr>
          <a:xfrm>
            <a:off x="658368" y="5669280"/>
            <a:ext cx="3712464" cy="274320"/>
          </a:xfrm>
          <a:prstGeom prst="rect">
            <a:avLst/>
          </a:prstGeom>
          <a:noFill/>
          <a:ln/>
        </p:spPr>
        <p:txBody>
          <a:bodyPr wrap="square" lIns="0" tIns="0" rIns="0" bIns="0" rtlCol="0" anchor="t"/>
          <a:lstStyle/>
          <a:p>
            <a:pPr indent="0" marL="0">
              <a:buNone/>
            </a:pPr>
            <a:r>
              <a:rPr lang="en-US" sz="1400" b="1" dirty="0">
                <a:solidFill>
                  <a:schemeClr val="tx2"/>
                </a:solidFill>
              </a:rPr>
              <a:t>tuition_records</a:t>
            </a:r>
            <a:endParaRPr lang="en-US" sz="1400" dirty="0"/>
          </a:p>
        </p:txBody>
      </p:sp>
      <p:sp>
        <p:nvSpPr>
          <p:cNvPr id="31" name="Text 29"/>
          <p:cNvSpPr txBox="1"/>
          <p:nvPr/>
        </p:nvSpPr>
        <p:spPr>
          <a:xfrm>
            <a:off x="658368" y="5980176"/>
            <a:ext cx="3712464" cy="274320"/>
          </a:xfrm>
          <a:prstGeom prst="rect">
            <a:avLst/>
          </a:prstGeom>
          <a:noFill/>
          <a:ln/>
        </p:spPr>
        <p:txBody>
          <a:bodyPr wrap="square" lIns="0" tIns="0" rIns="0" bIns="0" rtlCol="0" anchor="t"/>
          <a:lstStyle/>
          <a:p>
            <a:pPr indent="0" marL="0">
              <a:buNone/>
            </a:pPr>
            <a:r>
              <a:rPr lang="en-US" sz="1200" dirty="0">
                <a:solidFill>
                  <a:schemeClr val="tx1"/>
                </a:solidFill>
              </a:rPr>
              <a:t>student_id, amount, due_date, status</a:t>
            </a:r>
            <a:endParaRPr lang="en-US" sz="1200" dirty="0"/>
          </a:p>
        </p:txBody>
      </p:sp>
      <p:sp>
        <p:nvSpPr>
          <p:cNvPr id="32" name="Bảng phụ coach_sessions"/>
          <p:cNvSpPr/>
          <p:nvPr/>
        </p:nvSpPr>
        <p:spPr>
          <a:xfrm>
            <a:off x="4617720" y="5596128"/>
            <a:ext cx="3383280" cy="731520"/>
          </a:xfrm>
          <a:prstGeom prst="roundRect">
            <a:avLst>
              <a:gd name="adj" fmla="val 10000"/>
            </a:avLst>
          </a:prstGeom>
          <a:solidFill>
            <a:schemeClr val="bg1"/>
          </a:solidFill>
          <a:ln w="9525">
            <a:solidFill>
              <a:srgbClr val="CBD5E1"/>
            </a:solidFill>
            <a:prstDash val="solid"/>
          </a:ln>
        </p:spPr>
      </p:sp>
      <p:sp>
        <p:nvSpPr>
          <p:cNvPr id="33" name="Text 31"/>
          <p:cNvSpPr txBox="1"/>
          <p:nvPr/>
        </p:nvSpPr>
        <p:spPr>
          <a:xfrm>
            <a:off x="4727448" y="5669280"/>
            <a:ext cx="3163824" cy="274320"/>
          </a:xfrm>
          <a:prstGeom prst="rect">
            <a:avLst/>
          </a:prstGeom>
          <a:noFill/>
          <a:ln/>
        </p:spPr>
        <p:txBody>
          <a:bodyPr wrap="square" lIns="0" tIns="0" rIns="0" bIns="0" rtlCol="0" anchor="t"/>
          <a:lstStyle/>
          <a:p>
            <a:pPr indent="0" marL="0">
              <a:buNone/>
            </a:pPr>
            <a:r>
              <a:rPr lang="en-US" sz="1400" b="1" dirty="0">
                <a:solidFill>
                  <a:schemeClr val="tx2"/>
                </a:solidFill>
              </a:rPr>
              <a:t>coach_sessions</a:t>
            </a:r>
            <a:endParaRPr lang="en-US" sz="1400" dirty="0"/>
          </a:p>
        </p:txBody>
      </p:sp>
      <p:sp>
        <p:nvSpPr>
          <p:cNvPr id="34" name="Text 32"/>
          <p:cNvSpPr txBox="1"/>
          <p:nvPr/>
        </p:nvSpPr>
        <p:spPr>
          <a:xfrm>
            <a:off x="4727448" y="5980176"/>
            <a:ext cx="3163824" cy="274320"/>
          </a:xfrm>
          <a:prstGeom prst="rect">
            <a:avLst/>
          </a:prstGeom>
          <a:noFill/>
          <a:ln/>
        </p:spPr>
        <p:txBody>
          <a:bodyPr wrap="square" lIns="0" tIns="0" rIns="0" bIns="0" rtlCol="0" anchor="t"/>
          <a:lstStyle/>
          <a:p>
            <a:pPr indent="0" marL="0">
              <a:buNone/>
            </a:pPr>
            <a:r>
              <a:rPr lang="en-US" sz="1200" dirty="0">
                <a:solidFill>
                  <a:schemeClr val="tx1"/>
                </a:solidFill>
              </a:rPr>
              <a:t>user_id, kind, feedback, provider</a:t>
            </a:r>
            <a:endParaRPr lang="en-US" sz="1200" dirty="0"/>
          </a:p>
        </p:txBody>
      </p:sp>
      <p:sp>
        <p:nvSpPr>
          <p:cNvPr id="35" name="Bảng phụ parent_students"/>
          <p:cNvSpPr/>
          <p:nvPr/>
        </p:nvSpPr>
        <p:spPr>
          <a:xfrm>
            <a:off x="8686800" y="5596128"/>
            <a:ext cx="2926080" cy="731520"/>
          </a:xfrm>
          <a:prstGeom prst="roundRect">
            <a:avLst>
              <a:gd name="adj" fmla="val 10000"/>
            </a:avLst>
          </a:prstGeom>
          <a:solidFill>
            <a:schemeClr val="bg1"/>
          </a:solidFill>
          <a:ln w="9525">
            <a:solidFill>
              <a:srgbClr val="CBD5E1"/>
            </a:solidFill>
            <a:prstDash val="solid"/>
          </a:ln>
        </p:spPr>
      </p:sp>
      <p:sp>
        <p:nvSpPr>
          <p:cNvPr id="36" name="Text 34"/>
          <p:cNvSpPr txBox="1"/>
          <p:nvPr/>
        </p:nvSpPr>
        <p:spPr>
          <a:xfrm>
            <a:off x="8796528" y="5669280"/>
            <a:ext cx="2706624" cy="274320"/>
          </a:xfrm>
          <a:prstGeom prst="rect">
            <a:avLst/>
          </a:prstGeom>
          <a:noFill/>
          <a:ln/>
        </p:spPr>
        <p:txBody>
          <a:bodyPr wrap="square" lIns="0" tIns="0" rIns="0" bIns="0" rtlCol="0" anchor="t"/>
          <a:lstStyle/>
          <a:p>
            <a:pPr indent="0" marL="0">
              <a:buNone/>
            </a:pPr>
            <a:r>
              <a:rPr lang="en-US" sz="1400" b="1" dirty="0">
                <a:solidFill>
                  <a:schemeClr val="tx2"/>
                </a:solidFill>
              </a:rPr>
              <a:t>parent_students</a:t>
            </a:r>
            <a:endParaRPr lang="en-US" sz="1400" dirty="0"/>
          </a:p>
        </p:txBody>
      </p:sp>
      <p:sp>
        <p:nvSpPr>
          <p:cNvPr id="37" name="Text 35"/>
          <p:cNvSpPr txBox="1"/>
          <p:nvPr/>
        </p:nvSpPr>
        <p:spPr>
          <a:xfrm>
            <a:off x="8796528" y="5980176"/>
            <a:ext cx="2706624" cy="274320"/>
          </a:xfrm>
          <a:prstGeom prst="rect">
            <a:avLst/>
          </a:prstGeom>
          <a:noFill/>
          <a:ln/>
        </p:spPr>
        <p:txBody>
          <a:bodyPr wrap="square" lIns="0" tIns="0" rIns="0" bIns="0" rtlCol="0" anchor="t"/>
          <a:lstStyle/>
          <a:p>
            <a:pPr indent="0" marL="0">
              <a:buNone/>
            </a:pPr>
            <a:r>
              <a:rPr lang="en-US" sz="1200" dirty="0">
                <a:solidFill>
                  <a:schemeClr val="tx1"/>
                </a:solidFill>
              </a:rPr>
              <a:t>parent_id, student_id</a:t>
            </a:r>
            <a:endParaRPr lang="en-US" sz="1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Phân quyền và bảo mật</a:t>
            </a:r>
            <a:endParaRPr lang="en-US" sz="3400" dirty="0"/>
          </a:p>
        </p:txBody>
      </p:sp>
      <p:graphicFrame>
        <p:nvGraphicFramePr>
          <p:cNvPr id="8" name="Bảng phân quyền"/>
          <p:cNvGraphicFramePr>
            <a:graphicFrameLocks noGrp="1"/>
          </p:cNvGraphicFramePr>
          <p:nvPr>
            <p:extLst>
              <p:ext uri="{D42A27DB-BD31-4B8C-83A1-F6EECF244321}">
                <p14:modId xmlns:p14="http://schemas.microsoft.com/office/powerpoint/2010/main" val="1579011935"/>
              </p:ext>
            </p:extLst>
          </p:nvPr>
        </p:nvGraphicFramePr>
        <p:xfrm>
          <a:off x="548640" y="1600200"/>
          <a:ext cx="7040880" cy="914400"/>
        </p:xfrm>
        <a:graphic>
          <a:graphicData uri="http://schemas.openxmlformats.org/drawingml/2006/table">
            <a:tbl>
              <a:tblPr/>
              <a:tblGrid>
                <a:gridCol w="2651760"/>
                <a:gridCol w="1097280"/>
                <a:gridCol w="1097280"/>
                <a:gridCol w="1097280"/>
                <a:gridCol w="1097280"/>
              </a:tblGrid>
              <a:tr h="65836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Chức năng</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B287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Admin</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B287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Giáo viên</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B287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Học viên</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B287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Phụ huynh</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B2870"/>
                    </a:solidFill>
                  </a:tcPr>
                </a:tc>
              </a:tr>
              <a:tr h="658368">
                <a:tc>
                  <a:txBody>
                    <a:bodyPr/>
                    <a:lstStyle/>
                    <a:p>
                      <a:pPr algn="l" indent="0" marL="0">
                        <a:buNone/>
                      </a:pPr>
                      <a:r>
                        <a:rPr lang="en-US" sz="1400" b="1" dirty="0">
                          <a:solidFill>
                            <a:srgbClr val="1B1F3B"/>
                          </a:solidFill>
                          <a:latin typeface="Calibri" pitchFamily="34" charset="0"/>
                          <a:ea typeface="Calibri" pitchFamily="34" charset="-122"/>
                          <a:cs typeface="Calibri" pitchFamily="34" charset="-120"/>
                        </a:rPr>
                        <a:t>Quản lý người dùng, tạo lớp</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Có</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1B1F3B"/>
                          </a:solidFill>
                          <a:latin typeface="Calibri" pitchFamily="34" charset="0"/>
                          <a:ea typeface="Calibri" pitchFamily="34" charset="-122"/>
                          <a:cs typeface="Calibri" pitchFamily="34" charset="-120"/>
                        </a:rPr>
                        <a:t>Điểm danh, nhập điểm</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Mọi lớp</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Lớp mình</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1B1F3B"/>
                          </a:solidFill>
                          <a:latin typeface="Calibri" pitchFamily="34" charset="0"/>
                          <a:ea typeface="Calibri" pitchFamily="34" charset="-122"/>
                          <a:cs typeface="Calibri" pitchFamily="34" charset="-120"/>
                        </a:rPr>
                        <a:t>Xem chuyên cần, điểm</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Tất cả</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Lớp mình</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Của mình</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Của con</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1B1F3B"/>
                          </a:solidFill>
                          <a:latin typeface="Calibri" pitchFamily="34" charset="0"/>
                          <a:ea typeface="Calibri" pitchFamily="34" charset="-122"/>
                          <a:cs typeface="Calibri" pitchFamily="34" charset="-120"/>
                        </a:rPr>
                        <a:t>Học phí</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Quản lý</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Của mình</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Của con</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1B1F3B"/>
                          </a:solidFill>
                          <a:latin typeface="Calibri" pitchFamily="34" charset="0"/>
                          <a:ea typeface="Calibri" pitchFamily="34" charset="-122"/>
                          <a:cs typeface="Calibri" pitchFamily="34" charset="-120"/>
                        </a:rPr>
                        <a:t>AI Coach</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Có</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Có</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Có</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1F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669280"/>
            <a:ext cx="7040880" cy="457200"/>
          </a:xfrm>
          <a:prstGeom prst="rect">
            <a:avLst/>
          </a:prstGeom>
          <a:noFill/>
          <a:ln/>
        </p:spPr>
        <p:txBody>
          <a:bodyPr wrap="square" lIns="0" tIns="0" rIns="0" bIns="0" rtlCol="0" anchor="t"/>
          <a:lstStyle/>
          <a:p>
            <a:pPr indent="0" marL="0">
              <a:buNone/>
            </a:pPr>
            <a:r>
              <a:rPr lang="en-US" sz="1400" dirty="0">
                <a:solidFill>
                  <a:schemeClr val="accent6"/>
                </a:solidFill>
              </a:rPr>
              <a:t>Quyền được kiểm tra ở backend (deps.py), không dựa vào giao diện.</a:t>
            </a:r>
            <a:endParaRPr lang="en-US" sz="1400" dirty="0"/>
          </a:p>
        </p:txBody>
      </p:sp>
      <p:sp>
        <p:nvSpPr>
          <p:cNvPr id="5" name="Thẻ bảo mật 1"/>
          <p:cNvSpPr/>
          <p:nvPr/>
        </p:nvSpPr>
        <p:spPr>
          <a:xfrm>
            <a:off x="7955280" y="1600200"/>
            <a:ext cx="3657600" cy="987552"/>
          </a:xfrm>
          <a:prstGeom prst="roundRect">
            <a:avLst>
              <a:gd name="adj" fmla="val 11111"/>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6" name="Biểu tượng bảo mật 1 nền"/>
          <p:cNvSpPr/>
          <p:nvPr/>
        </p:nvSpPr>
        <p:spPr>
          <a:xfrm>
            <a:off x="8138160" y="1801368"/>
            <a:ext cx="585216" cy="585216"/>
          </a:xfrm>
          <a:prstGeom prst="ellipse">
            <a:avLst/>
          </a:prstGeom>
          <a:solidFill>
            <a:schemeClr val="accent1"/>
          </a:solidFill>
          <a:ln w="12700">
            <a:solidFill>
              <a:schemeClr val="accent1"/>
            </a:solidFill>
            <a:prstDash val="solid"/>
          </a:ln>
        </p:spPr>
      </p:sp>
      <p:pic>
        <p:nvPicPr>
          <p:cNvPr id="7" name="Biểu tượng bảo mật 1" descr="FaKey">    </p:cNvPr>
          <p:cNvPicPr>
            <a:picLocks noChangeAspect="1"/>
          </p:cNvPicPr>
          <p:nvPr/>
        </p:nvPicPr>
        <p:blipFill>
          <a:blip r:embed="rId1"/>
          <a:stretch>
            <a:fillRect/>
          </a:stretch>
        </p:blipFill>
        <p:spPr>
          <a:xfrm>
            <a:off x="8296168" y="1959376"/>
            <a:ext cx="269199" cy="269199"/>
          </a:xfrm>
          <a:prstGeom prst="rect">
            <a:avLst/>
          </a:prstGeom>
        </p:spPr>
      </p:pic>
      <p:sp>
        <p:nvSpPr>
          <p:cNvPr id="8" name="Text 4"/>
          <p:cNvSpPr txBox="1"/>
          <p:nvPr/>
        </p:nvSpPr>
        <p:spPr>
          <a:xfrm>
            <a:off x="8915400" y="1709928"/>
            <a:ext cx="2606040" cy="768096"/>
          </a:xfrm>
          <a:prstGeom prst="rect">
            <a:avLst/>
          </a:prstGeom>
          <a:noFill/>
          <a:ln/>
        </p:spPr>
        <p:txBody>
          <a:bodyPr wrap="square" lIns="0" tIns="0" rIns="0" bIns="0" rtlCol="0" anchor="ctr"/>
          <a:lstStyle/>
          <a:p>
            <a:pPr indent="0" marL="0">
              <a:buNone/>
            </a:pPr>
            <a:r>
              <a:rPr lang="en-US" sz="1400" dirty="0">
                <a:solidFill>
                  <a:schemeClr val="tx1"/>
                </a:solidFill>
              </a:rPr>
              <a:t>Mật khẩu băm bcrypt. Đăng nhập trả JWT, hết hạn sau 8 giờ</a:t>
            </a:r>
            <a:endParaRPr lang="en-US" sz="1400" dirty="0"/>
          </a:p>
        </p:txBody>
      </p:sp>
      <p:sp>
        <p:nvSpPr>
          <p:cNvPr id="9" name="Thẻ bảo mật 2"/>
          <p:cNvSpPr/>
          <p:nvPr/>
        </p:nvSpPr>
        <p:spPr>
          <a:xfrm>
            <a:off x="7955280" y="2715768"/>
            <a:ext cx="3657600" cy="987552"/>
          </a:xfrm>
          <a:prstGeom prst="roundRect">
            <a:avLst>
              <a:gd name="adj" fmla="val 11111"/>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0" name="Biểu tượng bảo mật 2 nền"/>
          <p:cNvSpPr/>
          <p:nvPr/>
        </p:nvSpPr>
        <p:spPr>
          <a:xfrm>
            <a:off x="8138160" y="2916936"/>
            <a:ext cx="585216" cy="585216"/>
          </a:xfrm>
          <a:prstGeom prst="ellipse">
            <a:avLst/>
          </a:prstGeom>
          <a:solidFill>
            <a:schemeClr val="accent4"/>
          </a:solidFill>
          <a:ln w="12700">
            <a:solidFill>
              <a:schemeClr val="accent4"/>
            </a:solidFill>
            <a:prstDash val="solid"/>
          </a:ln>
        </p:spPr>
      </p:sp>
      <p:pic>
        <p:nvPicPr>
          <p:cNvPr id="11" name="Biểu tượng bảo mật 2" descr="FaLock">    </p:cNvPr>
          <p:cNvPicPr>
            <a:picLocks noChangeAspect="1"/>
          </p:cNvPicPr>
          <p:nvPr/>
        </p:nvPicPr>
        <p:blipFill>
          <a:blip r:embed="rId2"/>
          <a:stretch>
            <a:fillRect/>
          </a:stretch>
        </p:blipFill>
        <p:spPr>
          <a:xfrm>
            <a:off x="8296168" y="3074944"/>
            <a:ext cx="269199" cy="269199"/>
          </a:xfrm>
          <a:prstGeom prst="rect">
            <a:avLst/>
          </a:prstGeom>
        </p:spPr>
      </p:pic>
      <p:sp>
        <p:nvSpPr>
          <p:cNvPr id="12" name="Text 7"/>
          <p:cNvSpPr txBox="1"/>
          <p:nvPr/>
        </p:nvSpPr>
        <p:spPr>
          <a:xfrm>
            <a:off x="8915400" y="2825496"/>
            <a:ext cx="2606040" cy="768096"/>
          </a:xfrm>
          <a:prstGeom prst="rect">
            <a:avLst/>
          </a:prstGeom>
          <a:noFill/>
          <a:ln/>
        </p:spPr>
        <p:txBody>
          <a:bodyPr wrap="square" lIns="0" tIns="0" rIns="0" bIns="0" rtlCol="0" anchor="ctr"/>
          <a:lstStyle/>
          <a:p>
            <a:pPr indent="0" marL="0">
              <a:buNone/>
            </a:pPr>
            <a:r>
              <a:rPr lang="en-US" sz="1400" dirty="0">
                <a:solidFill>
                  <a:schemeClr val="tx1"/>
                </a:solidFill>
              </a:rPr>
              <a:t>Khóa tạm 15 phút sau 5 lần nhập sai</a:t>
            </a:r>
            <a:endParaRPr lang="en-US" sz="1400" dirty="0"/>
          </a:p>
        </p:txBody>
      </p:sp>
      <p:sp>
        <p:nvSpPr>
          <p:cNvPr id="13" name="Thẻ bảo mật 3"/>
          <p:cNvSpPr/>
          <p:nvPr/>
        </p:nvSpPr>
        <p:spPr>
          <a:xfrm>
            <a:off x="7955280" y="3831336"/>
            <a:ext cx="3657600" cy="987552"/>
          </a:xfrm>
          <a:prstGeom prst="roundRect">
            <a:avLst>
              <a:gd name="adj" fmla="val 11111"/>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4" name="Biểu tượng bảo mật 3 nền"/>
          <p:cNvSpPr/>
          <p:nvPr/>
        </p:nvSpPr>
        <p:spPr>
          <a:xfrm>
            <a:off x="8138160" y="4032504"/>
            <a:ext cx="585216" cy="585216"/>
          </a:xfrm>
          <a:prstGeom prst="ellipse">
            <a:avLst/>
          </a:prstGeom>
          <a:solidFill>
            <a:schemeClr val="accent2"/>
          </a:solidFill>
          <a:ln w="12700">
            <a:solidFill>
              <a:schemeClr val="accent2"/>
            </a:solidFill>
            <a:prstDash val="solid"/>
          </a:ln>
        </p:spPr>
      </p:sp>
      <p:pic>
        <p:nvPicPr>
          <p:cNvPr id="15" name="Biểu tượng bảo mật 3" descr="FaShieldAlt">    </p:cNvPr>
          <p:cNvPicPr>
            <a:picLocks noChangeAspect="1"/>
          </p:cNvPicPr>
          <p:nvPr/>
        </p:nvPicPr>
        <p:blipFill>
          <a:blip r:embed="rId3"/>
          <a:stretch>
            <a:fillRect/>
          </a:stretch>
        </p:blipFill>
        <p:spPr>
          <a:xfrm>
            <a:off x="8296168" y="4190512"/>
            <a:ext cx="269199" cy="269199"/>
          </a:xfrm>
          <a:prstGeom prst="rect">
            <a:avLst/>
          </a:prstGeom>
        </p:spPr>
      </p:pic>
      <p:sp>
        <p:nvSpPr>
          <p:cNvPr id="16" name="Text 10"/>
          <p:cNvSpPr txBox="1"/>
          <p:nvPr/>
        </p:nvSpPr>
        <p:spPr>
          <a:xfrm>
            <a:off x="8915400" y="3941064"/>
            <a:ext cx="2606040" cy="768096"/>
          </a:xfrm>
          <a:prstGeom prst="rect">
            <a:avLst/>
          </a:prstGeom>
          <a:noFill/>
          <a:ln/>
        </p:spPr>
        <p:txBody>
          <a:bodyPr wrap="square" lIns="0" tIns="0" rIns="0" bIns="0" rtlCol="0" anchor="ctr"/>
          <a:lstStyle/>
          <a:p>
            <a:pPr indent="0" marL="0">
              <a:buNone/>
            </a:pPr>
            <a:r>
              <a:rPr lang="en-US" sz="1400" dirty="0">
                <a:solidFill>
                  <a:schemeClr val="tx1"/>
                </a:solidFill>
              </a:rPr>
              <a:t>Lỗi đăng nhập gộp chung, không lộ tài khoản có tồn tại</a:t>
            </a:r>
            <a:endParaRPr lang="en-US" sz="1400" dirty="0"/>
          </a:p>
        </p:txBody>
      </p:sp>
      <p:sp>
        <p:nvSpPr>
          <p:cNvPr id="17" name="Thẻ bảo mật 4"/>
          <p:cNvSpPr/>
          <p:nvPr/>
        </p:nvSpPr>
        <p:spPr>
          <a:xfrm>
            <a:off x="7955280" y="4946904"/>
            <a:ext cx="3657600" cy="987552"/>
          </a:xfrm>
          <a:prstGeom prst="roundRect">
            <a:avLst>
              <a:gd name="adj" fmla="val 11111"/>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8" name="Biểu tượng bảo mật 4 nền"/>
          <p:cNvSpPr/>
          <p:nvPr/>
        </p:nvSpPr>
        <p:spPr>
          <a:xfrm>
            <a:off x="8138160" y="5148072"/>
            <a:ext cx="585216" cy="585216"/>
          </a:xfrm>
          <a:prstGeom prst="ellipse">
            <a:avLst/>
          </a:prstGeom>
          <a:solidFill>
            <a:schemeClr val="accent5"/>
          </a:solidFill>
          <a:ln w="12700">
            <a:solidFill>
              <a:schemeClr val="accent5"/>
            </a:solidFill>
            <a:prstDash val="solid"/>
          </a:ln>
        </p:spPr>
      </p:sp>
      <p:pic>
        <p:nvPicPr>
          <p:cNvPr id="19" name="Biểu tượng bảo mật 4" descr="FaUserShield">    </p:cNvPr>
          <p:cNvPicPr>
            <a:picLocks noChangeAspect="1"/>
          </p:cNvPicPr>
          <p:nvPr/>
        </p:nvPicPr>
        <p:blipFill>
          <a:blip r:embed="rId4"/>
          <a:stretch>
            <a:fillRect/>
          </a:stretch>
        </p:blipFill>
        <p:spPr>
          <a:xfrm>
            <a:off x="8296168" y="5306080"/>
            <a:ext cx="269199" cy="269199"/>
          </a:xfrm>
          <a:prstGeom prst="rect">
            <a:avLst/>
          </a:prstGeom>
        </p:spPr>
      </p:pic>
      <p:sp>
        <p:nvSpPr>
          <p:cNvPr id="20" name="Text 13"/>
          <p:cNvSpPr txBox="1"/>
          <p:nvPr/>
        </p:nvSpPr>
        <p:spPr>
          <a:xfrm>
            <a:off x="8915400" y="5056632"/>
            <a:ext cx="2606040" cy="768096"/>
          </a:xfrm>
          <a:prstGeom prst="rect">
            <a:avLst/>
          </a:prstGeom>
          <a:noFill/>
          <a:ln/>
        </p:spPr>
        <p:txBody>
          <a:bodyPr wrap="square" lIns="0" tIns="0" rIns="0" bIns="0" rtlCol="0" anchor="ctr"/>
          <a:lstStyle/>
          <a:p>
            <a:pPr indent="0" marL="0">
              <a:buNone/>
            </a:pPr>
            <a:r>
              <a:rPr lang="en-US" sz="1400" dirty="0">
                <a:solidFill>
                  <a:schemeClr val="tx1"/>
                </a:solidFill>
              </a:rPr>
              <a:t>Phụ huynh xem con người khác bị chặn (HTTP 403)</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Giáo viên điểm danh cả lớp</a:t>
            </a:r>
            <a:endParaRPr lang="en-US" sz="3400" dirty="0"/>
          </a:p>
        </p:txBody>
      </p:sp>
      <p:sp>
        <p:nvSpPr>
          <p:cNvPr id="3" name="Khung ảnh"/>
          <p:cNvSpPr/>
          <p:nvPr/>
        </p:nvSpPr>
        <p:spPr>
          <a:xfrm>
            <a:off x="4535424" y="1536192"/>
            <a:ext cx="7077456" cy="4037076"/>
          </a:xfrm>
          <a:prstGeom prst="roundRect">
            <a:avLst>
              <a:gd name="adj" fmla="val 2265"/>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pic>
        <p:nvPicPr>
          <p:cNvPr id="4" name="Ảnh: Màn hình điểm danh của giáo viên" descr="Màn hình điểm danh của giáo viên">    </p:cNvPr>
          <p:cNvPicPr>
            <a:picLocks noChangeAspect="1"/>
          </p:cNvPicPr>
          <p:nvPr/>
        </p:nvPicPr>
        <p:blipFill>
          <a:blip r:embed="rId1"/>
          <a:stretch>
            <a:fillRect/>
          </a:stretch>
        </p:blipFill>
        <p:spPr>
          <a:xfrm>
            <a:off x="4599432" y="1600200"/>
            <a:ext cx="6949440" cy="3909060"/>
          </a:xfrm>
          <a:prstGeom prst="rect">
            <a:avLst/>
          </a:prstGeom>
        </p:spPr>
      </p:pic>
      <p:sp>
        <p:nvSpPr>
          <p:cNvPr id="5" name="Text 2"/>
          <p:cNvSpPr txBox="1"/>
          <p:nvPr/>
        </p:nvSpPr>
        <p:spPr>
          <a:xfrm>
            <a:off x="548640" y="1600200"/>
            <a:ext cx="3657600" cy="3913632"/>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Giáo viên chỉ thấy lớp mình phụ trách</a:t>
            </a:r>
            <a:endParaRPr lang="en-US" sz="2000" dirty="0"/>
          </a:p>
          <a:p>
            <a:pPr marL="228600" indent="-228600">
              <a:spcAft>
                <a:spcPts val="1000"/>
              </a:spcAft>
              <a:buSzPct val="100000"/>
              <a:buChar char="•"/>
            </a:pPr>
            <a:r>
              <a:rPr lang="en-US" sz="2000" dirty="0">
                <a:solidFill>
                  <a:schemeClr val="tx1"/>
                </a:solidFill>
              </a:rPr>
              <a:t>Bốn trạng thái: có mặt, đi trễ, vắng, vắng có phép</a:t>
            </a:r>
            <a:endParaRPr lang="en-US" sz="2000" dirty="0"/>
          </a:p>
          <a:p>
            <a:pPr marL="228600" indent="-228600">
              <a:spcAft>
                <a:spcPts val="1000"/>
              </a:spcAft>
              <a:buSzPct val="100000"/>
              <a:buChar char="•"/>
            </a:pPr>
            <a:r>
              <a:rPr lang="en-US" sz="2000" dirty="0">
                <a:solidFill>
                  <a:schemeClr val="tx1"/>
                </a:solidFill>
              </a:rPr>
              <a:t>Lưu lại cùng một ngày sẽ cập nhật, không tạo bản ghi trùng</a:t>
            </a:r>
            <a:endParaRPr lang="en-US" sz="20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Báo cáo lớp và xuất Excel</a:t>
            </a:r>
            <a:endParaRPr lang="en-US" sz="3400" dirty="0"/>
          </a:p>
        </p:txBody>
      </p:sp>
      <p:sp>
        <p:nvSpPr>
          <p:cNvPr id="3" name="Khung ảnh"/>
          <p:cNvSpPr/>
          <p:nvPr/>
        </p:nvSpPr>
        <p:spPr>
          <a:xfrm>
            <a:off x="548640" y="1536192"/>
            <a:ext cx="7077456" cy="4037076"/>
          </a:xfrm>
          <a:prstGeom prst="roundRect">
            <a:avLst>
              <a:gd name="adj" fmla="val 2265"/>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pic>
        <p:nvPicPr>
          <p:cNvPr id="4" name="Ảnh: Màn hình báo cáo lớp" descr="Màn hình báo cáo lớp">    </p:cNvPr>
          <p:cNvPicPr>
            <a:picLocks noChangeAspect="1"/>
          </p:cNvPicPr>
          <p:nvPr/>
        </p:nvPicPr>
        <p:blipFill>
          <a:blip r:embed="rId1"/>
          <a:stretch>
            <a:fillRect/>
          </a:stretch>
        </p:blipFill>
        <p:spPr>
          <a:xfrm>
            <a:off x="612648" y="1600200"/>
            <a:ext cx="6949440" cy="3909060"/>
          </a:xfrm>
          <a:prstGeom prst="rect">
            <a:avLst/>
          </a:prstGeom>
        </p:spPr>
      </p:pic>
      <p:sp>
        <p:nvSpPr>
          <p:cNvPr id="5" name="Text 2"/>
          <p:cNvSpPr txBox="1"/>
          <p:nvPr/>
        </p:nvSpPr>
        <p:spPr>
          <a:xfrm>
            <a:off x="7909560" y="1600200"/>
            <a:ext cx="3657600" cy="3913632"/>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Chuyên cần và điểm trung bình của từng học viên</a:t>
            </a:r>
            <a:endParaRPr lang="en-US" sz="2000" dirty="0"/>
          </a:p>
          <a:p>
            <a:pPr marL="228600" indent="-228600">
              <a:spcAft>
                <a:spcPts val="1000"/>
              </a:spcAft>
              <a:buSzPct val="100000"/>
              <a:buChar char="•"/>
            </a:pPr>
            <a:r>
              <a:rPr lang="en-US" sz="2000" dirty="0">
                <a:solidFill>
                  <a:schemeClr val="tx1"/>
                </a:solidFill>
              </a:rPr>
              <a:t>Tính bằng pandas từ dữ liệu PostgreSQL</a:t>
            </a:r>
            <a:endParaRPr lang="en-US" sz="2000" dirty="0"/>
          </a:p>
          <a:p>
            <a:pPr marL="228600" indent="-228600">
              <a:spcAft>
                <a:spcPts val="1000"/>
              </a:spcAft>
              <a:buSzPct val="100000"/>
              <a:buChar char="•"/>
            </a:pPr>
            <a:r>
              <a:rPr lang="en-US" sz="2000" dirty="0">
                <a:solidFill>
                  <a:schemeClr val="tx1"/>
                </a:solidFill>
              </a:rPr>
              <a:t>Nút Xuất Excel tải về tệp .xlsx</a:t>
            </a:r>
            <a:endParaRPr lang="en-US" sz="20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Phụ huynh theo dõi con</a:t>
            </a:r>
            <a:endParaRPr lang="en-US" sz="3400" dirty="0"/>
          </a:p>
        </p:txBody>
      </p:sp>
      <p:sp>
        <p:nvSpPr>
          <p:cNvPr id="3" name="Khung ảnh"/>
          <p:cNvSpPr/>
          <p:nvPr/>
        </p:nvSpPr>
        <p:spPr>
          <a:xfrm>
            <a:off x="4535424" y="1536192"/>
            <a:ext cx="7077456" cy="4037076"/>
          </a:xfrm>
          <a:prstGeom prst="roundRect">
            <a:avLst>
              <a:gd name="adj" fmla="val 2265"/>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pic>
        <p:nvPicPr>
          <p:cNvPr id="4" name="Ảnh: Màn hình chuyên cần của phụ huynh" descr="Màn hình chuyên cần của phụ huynh">    </p:cNvPr>
          <p:cNvPicPr>
            <a:picLocks noChangeAspect="1"/>
          </p:cNvPicPr>
          <p:nvPr/>
        </p:nvPicPr>
        <p:blipFill>
          <a:blip r:embed="rId1"/>
          <a:stretch>
            <a:fillRect/>
          </a:stretch>
        </p:blipFill>
        <p:spPr>
          <a:xfrm>
            <a:off x="4599432" y="1600200"/>
            <a:ext cx="6949440" cy="3909060"/>
          </a:xfrm>
          <a:prstGeom prst="rect">
            <a:avLst/>
          </a:prstGeom>
        </p:spPr>
      </p:pic>
      <p:sp>
        <p:nvSpPr>
          <p:cNvPr id="5" name="Text 2"/>
          <p:cNvSpPr txBox="1"/>
          <p:nvPr/>
        </p:nvSpPr>
        <p:spPr>
          <a:xfrm>
            <a:off x="548640" y="1600200"/>
            <a:ext cx="3657600" cy="3913632"/>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Phụ huynh chỉ xem được con của mình</a:t>
            </a:r>
            <a:endParaRPr lang="en-US" sz="2000" dirty="0"/>
          </a:p>
          <a:p>
            <a:pPr marL="228600" indent="-228600">
              <a:spcAft>
                <a:spcPts val="1000"/>
              </a:spcAft>
              <a:buSzPct val="100000"/>
              <a:buChar char="•"/>
            </a:pPr>
            <a:r>
              <a:rPr lang="en-US" sz="2000" dirty="0">
                <a:solidFill>
                  <a:schemeClr val="tx1"/>
                </a:solidFill>
              </a:rPr>
              <a:t>Truy cập dữ liệu của người khác bị chặn bằng HTTP 403</a:t>
            </a:r>
            <a:endParaRPr lang="en-US" sz="2000" dirty="0"/>
          </a:p>
          <a:p>
            <a:pPr marL="228600" indent="-228600">
              <a:spcAft>
                <a:spcPts val="1000"/>
              </a:spcAft>
              <a:buSzPct val="100000"/>
              <a:buChar char="•"/>
            </a:pPr>
            <a:r>
              <a:rPr lang="en-US" sz="2000" dirty="0">
                <a:solidFill>
                  <a:schemeClr val="tx1"/>
                </a:solidFill>
              </a:rPr>
              <a:t>Học viên dùng cùng màn hình với dữ liệu của chính mình</a:t>
            </a:r>
            <a:endParaRPr lang="en-US" sz="20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Quản lý học phí</a:t>
            </a:r>
            <a:endParaRPr lang="en-US" sz="3400" dirty="0"/>
          </a:p>
        </p:txBody>
      </p:sp>
      <p:sp>
        <p:nvSpPr>
          <p:cNvPr id="3" name="Khung ảnh"/>
          <p:cNvSpPr/>
          <p:nvPr/>
        </p:nvSpPr>
        <p:spPr>
          <a:xfrm>
            <a:off x="548640" y="1536192"/>
            <a:ext cx="7077456" cy="4037076"/>
          </a:xfrm>
          <a:prstGeom prst="roundRect">
            <a:avLst>
              <a:gd name="adj" fmla="val 2265"/>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pic>
        <p:nvPicPr>
          <p:cNvPr id="4" name="Ảnh: Màn hình quản lý học phí của quản trị viên" descr="Màn hình quản lý học phí của quản trị viên">    </p:cNvPr>
          <p:cNvPicPr>
            <a:picLocks noChangeAspect="1"/>
          </p:cNvPicPr>
          <p:nvPr/>
        </p:nvPicPr>
        <p:blipFill>
          <a:blip r:embed="rId1"/>
          <a:stretch>
            <a:fillRect/>
          </a:stretch>
        </p:blipFill>
        <p:spPr>
          <a:xfrm>
            <a:off x="612648" y="1600200"/>
            <a:ext cx="6949440" cy="3909060"/>
          </a:xfrm>
          <a:prstGeom prst="rect">
            <a:avLst/>
          </a:prstGeom>
        </p:spPr>
      </p:pic>
      <p:sp>
        <p:nvSpPr>
          <p:cNvPr id="5" name="Text 2"/>
          <p:cNvSpPr txBox="1"/>
          <p:nvPr/>
        </p:nvSpPr>
        <p:spPr>
          <a:xfrm>
            <a:off x="7909560" y="1600200"/>
            <a:ext cx="3657600" cy="3913632"/>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Tạo khoản, ghi nhận đã đóng</a:t>
            </a:r>
            <a:endParaRPr lang="en-US" sz="2000" dirty="0"/>
          </a:p>
          <a:p>
            <a:pPr marL="228600" indent="-228600">
              <a:spcAft>
                <a:spcPts val="1000"/>
              </a:spcAft>
              <a:buSzPct val="100000"/>
              <a:buChar char="•"/>
            </a:pPr>
            <a:r>
              <a:rPr lang="en-US" sz="2000" dirty="0">
                <a:solidFill>
                  <a:schemeClr val="tx1"/>
                </a:solidFill>
              </a:rPr>
              <a:t>Đánh dấu quá hạn theo hạn đóng</a:t>
            </a:r>
            <a:endParaRPr lang="en-US" sz="2000" dirty="0"/>
          </a:p>
          <a:p>
            <a:pPr marL="228600" indent="-228600">
              <a:spcAft>
                <a:spcPts val="1000"/>
              </a:spcAft>
              <a:buSzPct val="100000"/>
              <a:buChar char="•"/>
            </a:pPr>
            <a:r>
              <a:rPr lang="en-US" sz="2000" dirty="0">
                <a:solidFill>
                  <a:schemeClr val="tx1"/>
                </a:solidFill>
              </a:rPr>
              <a:t>Chỉ quản trị viên quản lý; giáo viên không xem được</a:t>
            </a:r>
            <a:endParaRPr lang="en-US" sz="20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AI Coach nhận xét bài viết</a:t>
            </a:r>
            <a:endParaRPr lang="en-US" sz="3400" dirty="0"/>
          </a:p>
        </p:txBody>
      </p:sp>
      <p:sp>
        <p:nvSpPr>
          <p:cNvPr id="3" name="Khung ảnh"/>
          <p:cNvSpPr/>
          <p:nvPr/>
        </p:nvSpPr>
        <p:spPr>
          <a:xfrm>
            <a:off x="4535424" y="1536192"/>
            <a:ext cx="7077456" cy="4037076"/>
          </a:xfrm>
          <a:prstGeom prst="roundRect">
            <a:avLst>
              <a:gd name="adj" fmla="val 2265"/>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pic>
        <p:nvPicPr>
          <p:cNvPr id="4" name="Ảnh: Màn hình AI Coach" descr="Màn hình AI Coach">    </p:cNvPr>
          <p:cNvPicPr>
            <a:picLocks noChangeAspect="1"/>
          </p:cNvPicPr>
          <p:nvPr/>
        </p:nvPicPr>
        <p:blipFill>
          <a:blip r:embed="rId1"/>
          <a:stretch>
            <a:fillRect/>
          </a:stretch>
        </p:blipFill>
        <p:spPr>
          <a:xfrm>
            <a:off x="4599432" y="1600200"/>
            <a:ext cx="6949440" cy="3909060"/>
          </a:xfrm>
          <a:prstGeom prst="rect">
            <a:avLst/>
          </a:prstGeom>
        </p:spPr>
      </p:pic>
      <p:sp>
        <p:nvSpPr>
          <p:cNvPr id="5" name="Text 2"/>
          <p:cNvSpPr txBox="1"/>
          <p:nvPr/>
        </p:nvSpPr>
        <p:spPr>
          <a:xfrm>
            <a:off x="548640" y="1600200"/>
            <a:ext cx="3657600" cy="3913632"/>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Có khóa Gemini thì dùng Gemini</a:t>
            </a:r>
            <a:endParaRPr lang="en-US" sz="2000" dirty="0"/>
          </a:p>
          <a:p>
            <a:pPr marL="228600" indent="-228600">
              <a:spcAft>
                <a:spcPts val="1000"/>
              </a:spcAft>
              <a:buSzPct val="100000"/>
              <a:buChar char="•"/>
            </a:pPr>
            <a:r>
              <a:rPr lang="en-US" sz="2000" dirty="0">
                <a:solidFill>
                  <a:schemeClr val="tx1"/>
                </a:solidFill>
              </a:rPr>
              <a:t>Không có khóa hoặc gọi lỗi thì dùng bộ nhận xét theo luật</a:t>
            </a:r>
            <a:endParaRPr lang="en-US" sz="2000" dirty="0"/>
          </a:p>
          <a:p>
            <a:pPr marL="228600" indent="-228600">
              <a:spcAft>
                <a:spcPts val="1000"/>
              </a:spcAft>
              <a:buSzPct val="100000"/>
              <a:buChar char="•"/>
            </a:pPr>
            <a:r>
              <a:rPr lang="en-US" sz="2000" dirty="0">
                <a:solidFill>
                  <a:schemeClr val="tx1"/>
                </a:solidFill>
              </a:rPr>
              <a:t>Lưu lịch sử, tối đa 20 lượt mỗi ngày</a:t>
            </a:r>
            <a:endParaRPr lang="en-US" sz="20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API tự sinh tài liệu</a:t>
            </a:r>
            <a:endParaRPr lang="en-US" sz="3400" dirty="0"/>
          </a:p>
        </p:txBody>
      </p:sp>
      <p:sp>
        <p:nvSpPr>
          <p:cNvPr id="3" name="Khung ảnh"/>
          <p:cNvSpPr/>
          <p:nvPr/>
        </p:nvSpPr>
        <p:spPr>
          <a:xfrm>
            <a:off x="548640" y="1536192"/>
            <a:ext cx="6894576" cy="3934206"/>
          </a:xfrm>
          <a:prstGeom prst="roundRect">
            <a:avLst>
              <a:gd name="adj" fmla="val 2324"/>
            </a:avLst>
          </a:prstGeom>
          <a:solidFill>
            <a:schemeClr val="bg1"/>
          </a:solidFill>
          <a:ln w="9525">
            <a:solidFill>
              <a:srgbClr val="CBD5E1"/>
            </a:solidFill>
            <a:prstDash val="solid"/>
          </a:ln>
          <a:effectLst>
            <a:outerShdw sx="100000" sy="100000" kx="0" ky="0" algn="bl" rotWithShape="0" blurRad="127000" dist="25400" dir="5400000">
              <a:srgbClr val="1B1F3B">
                <a:alpha val="14000"/>
              </a:srgbClr>
            </a:outerShdw>
          </a:effectLst>
        </p:spPr>
      </p:sp>
      <p:pic>
        <p:nvPicPr>
          <p:cNvPr id="4" name="Ảnh: Trang tài liệu API Swagger" descr="Trang tài liệu API Swagger">    </p:cNvPr>
          <p:cNvPicPr>
            <a:picLocks noChangeAspect="1"/>
          </p:cNvPicPr>
          <p:nvPr/>
        </p:nvPicPr>
        <p:blipFill>
          <a:blip r:embed="rId1"/>
          <a:stretch>
            <a:fillRect/>
          </a:stretch>
        </p:blipFill>
        <p:spPr>
          <a:xfrm>
            <a:off x="612648" y="1600200"/>
            <a:ext cx="6766560" cy="3806190"/>
          </a:xfrm>
          <a:prstGeom prst="rect">
            <a:avLst/>
          </a:prstGeom>
        </p:spPr>
      </p:pic>
      <p:sp>
        <p:nvSpPr>
          <p:cNvPr id="5" name="Thẻ số liệu"/>
          <p:cNvSpPr/>
          <p:nvPr/>
        </p:nvSpPr>
        <p:spPr>
          <a:xfrm>
            <a:off x="7863840" y="1508760"/>
            <a:ext cx="3749040" cy="2148840"/>
          </a:xfrm>
          <a:prstGeom prst="roundRect">
            <a:avLst>
              <a:gd name="adj" fmla="val 5106"/>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6" name="Text 3"/>
          <p:cNvSpPr txBox="1"/>
          <p:nvPr/>
        </p:nvSpPr>
        <p:spPr>
          <a:xfrm>
            <a:off x="8138160" y="1737360"/>
            <a:ext cx="3200400" cy="107442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36</a:t>
            </a:r>
            <a:endParaRPr lang="en-US" sz="5400" dirty="0"/>
          </a:p>
        </p:txBody>
      </p:sp>
      <p:sp>
        <p:nvSpPr>
          <p:cNvPr id="7" name="Text 4"/>
          <p:cNvSpPr txBox="1"/>
          <p:nvPr/>
        </p:nvSpPr>
        <p:spPr>
          <a:xfrm>
            <a:off x="8138160" y="2755087"/>
            <a:ext cx="3200400" cy="730606"/>
          </a:xfrm>
          <a:prstGeom prst="rect">
            <a:avLst/>
          </a:prstGeom>
          <a:noFill/>
          <a:ln/>
        </p:spPr>
        <p:txBody>
          <a:bodyPr wrap="square" lIns="0" tIns="0" rIns="0" bIns="0" rtlCol="0" anchor="t"/>
          <a:lstStyle/>
          <a:p>
            <a:pPr indent="0" marL="0">
              <a:buNone/>
            </a:pPr>
            <a:r>
              <a:rPr lang="en-US" sz="1600" dirty="0">
                <a:solidFill>
                  <a:schemeClr val="tx1"/>
                </a:solidFill>
              </a:rPr>
              <a:t>thao tác API trên 27 đường dẫn</a:t>
            </a:r>
            <a:endParaRPr lang="en-US" sz="1600" dirty="0"/>
          </a:p>
        </p:txBody>
      </p:sp>
      <p:sp>
        <p:nvSpPr>
          <p:cNvPr id="8" name="Thẻ số liệu"/>
          <p:cNvSpPr/>
          <p:nvPr/>
        </p:nvSpPr>
        <p:spPr>
          <a:xfrm>
            <a:off x="7863840" y="3886200"/>
            <a:ext cx="3749040" cy="2148840"/>
          </a:xfrm>
          <a:prstGeom prst="roundRect">
            <a:avLst>
              <a:gd name="adj" fmla="val 5106"/>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9" name="Text 6"/>
          <p:cNvSpPr txBox="1"/>
          <p:nvPr/>
        </p:nvSpPr>
        <p:spPr>
          <a:xfrm>
            <a:off x="8138160" y="4114800"/>
            <a:ext cx="3200400" cy="107442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/docs</a:t>
            </a:r>
            <a:endParaRPr lang="en-US" sz="5400" dirty="0"/>
          </a:p>
        </p:txBody>
      </p:sp>
      <p:sp>
        <p:nvSpPr>
          <p:cNvPr id="10" name="Text 7"/>
          <p:cNvSpPr txBox="1"/>
          <p:nvPr/>
        </p:nvSpPr>
        <p:spPr>
          <a:xfrm>
            <a:off x="8138160" y="5132527"/>
            <a:ext cx="3200400" cy="730606"/>
          </a:xfrm>
          <a:prstGeom prst="rect">
            <a:avLst/>
          </a:prstGeom>
          <a:noFill/>
          <a:ln/>
        </p:spPr>
        <p:txBody>
          <a:bodyPr wrap="square" lIns="0" tIns="0" rIns="0" bIns="0" rtlCol="0" anchor="t"/>
          <a:lstStyle/>
          <a:p>
            <a:pPr indent="0" marL="0">
              <a:buNone/>
            </a:pPr>
            <a:r>
              <a:rPr lang="en-US" sz="1600" dirty="0">
                <a:solidFill>
                  <a:schemeClr val="tx1"/>
                </a:solidFill>
              </a:rPr>
              <a:t>Swagger tự sinh từ OpenAPI, thử API ngay trên trình duyệt</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Triển khai bằng Docker</a:t>
            </a:r>
            <a:endParaRPr lang="en-US" sz="3400" dirty="0"/>
          </a:p>
        </p:txBody>
      </p:sp>
      <p:sp>
        <p:nvSpPr>
          <p:cNvPr id="3" name="Khung lệnh"/>
          <p:cNvSpPr/>
          <p:nvPr/>
        </p:nvSpPr>
        <p:spPr>
          <a:xfrm>
            <a:off x="548640" y="1554480"/>
            <a:ext cx="6126480" cy="2286000"/>
          </a:xfrm>
          <a:prstGeom prst="roundRect">
            <a:avLst>
              <a:gd name="adj" fmla="val 4800"/>
            </a:avLst>
          </a:prstGeom>
          <a:solidFill>
            <a:schemeClr val="tx1"/>
          </a:solidFill>
          <a:ln w="12700">
            <a:solidFill>
              <a:schemeClr val="tx1"/>
            </a:solidFill>
            <a:prstDash val="solid"/>
          </a:ln>
          <a:effectLst>
            <a:outerShdw sx="100000" sy="100000" kx="0" ky="0" algn="bl" rotWithShape="0" blurRad="127000" dist="25400" dir="5400000">
              <a:srgbClr val="1B1F3B">
                <a:alpha val="14000"/>
              </a:srgbClr>
            </a:outerShdw>
          </a:effectLst>
        </p:spPr>
      </p:sp>
      <p:sp>
        <p:nvSpPr>
          <p:cNvPr id="4" name="Text 2"/>
          <p:cNvSpPr txBox="1"/>
          <p:nvPr/>
        </p:nvSpPr>
        <p:spPr>
          <a:xfrm>
            <a:off x="822960" y="1783080"/>
            <a:ext cx="5669280" cy="182880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git clone https://github.com/laviquyen229/ProjectHKII.git</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cd ProjectHKII</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cp .env.example .env</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docker compose up --build</a:t>
            </a:r>
            <a:endParaRPr lang="en-US" sz="1300" dirty="0"/>
          </a:p>
        </p:txBody>
      </p:sp>
      <p:sp>
        <p:nvSpPr>
          <p:cNvPr id="5" name="Text 3"/>
          <p:cNvSpPr txBox="1"/>
          <p:nvPr/>
        </p:nvSpPr>
        <p:spPr>
          <a:xfrm>
            <a:off x="548640" y="4114800"/>
            <a:ext cx="6126480" cy="1097280"/>
          </a:xfrm>
          <a:prstGeom prst="rect">
            <a:avLst/>
          </a:prstGeom>
          <a:noFill/>
          <a:ln/>
        </p:spPr>
        <p:txBody>
          <a:bodyPr wrap="square" lIns="0" tIns="0" rIns="0" bIns="0" rtlCol="0" anchor="t"/>
          <a:lstStyle/>
          <a:p>
            <a:pPr indent="0" marL="0">
              <a:buNone/>
            </a:pPr>
            <a:r>
              <a:rPr lang="en-US" sz="1600" dirty="0">
                <a:solidFill>
                  <a:schemeClr val="tx1"/>
                </a:solidFill>
              </a:rPr>
              <a:t>Mở http://localhost:8080 và đăng nhập bằng tài khoản mẫu. Lần chạy đầu tự tạo bảng (Alembic) và nạp dữ liệu giả.</a:t>
            </a:r>
            <a:endParaRPr lang="en-US" sz="1600" dirty="0"/>
          </a:p>
        </p:txBody>
      </p:sp>
      <p:sp>
        <p:nvSpPr>
          <p:cNvPr id="6" name="Text 4"/>
          <p:cNvSpPr txBox="1"/>
          <p:nvPr/>
        </p:nvSpPr>
        <p:spPr>
          <a:xfrm>
            <a:off x="548640" y="5349240"/>
            <a:ext cx="6126480" cy="640080"/>
          </a:xfrm>
          <a:prstGeom prst="rect">
            <a:avLst/>
          </a:prstGeom>
          <a:noFill/>
          <a:ln/>
        </p:spPr>
        <p:txBody>
          <a:bodyPr wrap="square" lIns="0" tIns="0" rIns="0" bIns="0" rtlCol="0" anchor="t"/>
          <a:lstStyle/>
          <a:p>
            <a:pPr indent="0" marL="0">
              <a:buNone/>
            </a:pPr>
            <a:r>
              <a:rPr lang="en-US" sz="1400" dirty="0">
                <a:solidFill>
                  <a:schemeClr val="accent6"/>
                </a:solidFill>
              </a:rPr>
              <a:t>Dừng: docker compose down  ·  Xóa dữ liệu: docker compose down -v</a:t>
            </a:r>
            <a:endParaRPr lang="en-US" sz="1400" dirty="0"/>
          </a:p>
        </p:txBody>
      </p:sp>
      <p:sp>
        <p:nvSpPr>
          <p:cNvPr id="7" name="Thẻ container db"/>
          <p:cNvSpPr/>
          <p:nvPr/>
        </p:nvSpPr>
        <p:spPr>
          <a:xfrm>
            <a:off x="7040880" y="1554480"/>
            <a:ext cx="4572000" cy="1371600"/>
          </a:xfrm>
          <a:prstGeom prst="roundRect">
            <a:avLst>
              <a:gd name="adj" fmla="val 8000"/>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8" name="Biểu tượng container db nền"/>
          <p:cNvSpPr/>
          <p:nvPr/>
        </p:nvSpPr>
        <p:spPr>
          <a:xfrm>
            <a:off x="7269480" y="1901952"/>
            <a:ext cx="685800" cy="685800"/>
          </a:xfrm>
          <a:prstGeom prst="ellipse">
            <a:avLst/>
          </a:prstGeom>
          <a:solidFill>
            <a:schemeClr val="accent2"/>
          </a:solidFill>
          <a:ln w="12700">
            <a:solidFill>
              <a:schemeClr val="accent2"/>
            </a:solidFill>
            <a:prstDash val="solid"/>
          </a:ln>
        </p:spPr>
      </p:sp>
      <p:pic>
        <p:nvPicPr>
          <p:cNvPr id="9" name="Biểu tượng container db" descr="FaDatabase">    </p:cNvPr>
          <p:cNvPicPr>
            <a:picLocks noChangeAspect="1"/>
          </p:cNvPicPr>
          <p:nvPr/>
        </p:nvPicPr>
        <p:blipFill>
          <a:blip r:embed="rId1"/>
          <a:stretch>
            <a:fillRect/>
          </a:stretch>
        </p:blipFill>
        <p:spPr>
          <a:xfrm>
            <a:off x="7454646" y="2087118"/>
            <a:ext cx="315468" cy="315468"/>
          </a:xfrm>
          <a:prstGeom prst="rect">
            <a:avLst/>
          </a:prstGeom>
        </p:spPr>
      </p:pic>
      <p:sp>
        <p:nvSpPr>
          <p:cNvPr id="10" name="Text 7"/>
          <p:cNvSpPr txBox="1"/>
          <p:nvPr/>
        </p:nvSpPr>
        <p:spPr>
          <a:xfrm>
            <a:off x="8138160" y="1737360"/>
            <a:ext cx="32918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db</a:t>
            </a:r>
            <a:endParaRPr lang="en-US" sz="2000" dirty="0"/>
          </a:p>
        </p:txBody>
      </p:sp>
      <p:sp>
        <p:nvSpPr>
          <p:cNvPr id="11" name="Text 8"/>
          <p:cNvSpPr txBox="1"/>
          <p:nvPr/>
        </p:nvSpPr>
        <p:spPr>
          <a:xfrm>
            <a:off x="8138160" y="2148840"/>
            <a:ext cx="3337560" cy="685800"/>
          </a:xfrm>
          <a:prstGeom prst="rect">
            <a:avLst/>
          </a:prstGeom>
          <a:noFill/>
          <a:ln/>
        </p:spPr>
        <p:txBody>
          <a:bodyPr wrap="square" lIns="0" tIns="0" rIns="0" bIns="0" rtlCol="0" anchor="t"/>
          <a:lstStyle/>
          <a:p>
            <a:pPr indent="0" marL="0">
              <a:buNone/>
            </a:pPr>
            <a:r>
              <a:rPr lang="en-US" sz="1400" dirty="0">
                <a:solidFill>
                  <a:schemeClr val="tx1"/>
                </a:solidFill>
              </a:rPr>
              <a:t>postgres:16-alpine, volume pgdata, healthcheck</a:t>
            </a:r>
            <a:endParaRPr lang="en-US" sz="1400" dirty="0"/>
          </a:p>
        </p:txBody>
      </p:sp>
      <p:sp>
        <p:nvSpPr>
          <p:cNvPr id="12" name="Thẻ container api"/>
          <p:cNvSpPr/>
          <p:nvPr/>
        </p:nvSpPr>
        <p:spPr>
          <a:xfrm>
            <a:off x="7040880" y="3108960"/>
            <a:ext cx="4572000" cy="1371600"/>
          </a:xfrm>
          <a:prstGeom prst="roundRect">
            <a:avLst>
              <a:gd name="adj" fmla="val 8000"/>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3" name="Biểu tượng container api nền"/>
          <p:cNvSpPr/>
          <p:nvPr/>
        </p:nvSpPr>
        <p:spPr>
          <a:xfrm>
            <a:off x="7269480" y="3456432"/>
            <a:ext cx="685800" cy="685800"/>
          </a:xfrm>
          <a:prstGeom prst="ellipse">
            <a:avLst/>
          </a:prstGeom>
          <a:solidFill>
            <a:schemeClr val="accent1"/>
          </a:solidFill>
          <a:ln w="12700">
            <a:solidFill>
              <a:schemeClr val="accent1"/>
            </a:solidFill>
            <a:prstDash val="solid"/>
          </a:ln>
        </p:spPr>
      </p:sp>
      <p:pic>
        <p:nvPicPr>
          <p:cNvPr id="14" name="Biểu tượng container api" descr="FaServer">    </p:cNvPr>
          <p:cNvPicPr>
            <a:picLocks noChangeAspect="1"/>
          </p:cNvPicPr>
          <p:nvPr/>
        </p:nvPicPr>
        <p:blipFill>
          <a:blip r:embed="rId2"/>
          <a:stretch>
            <a:fillRect/>
          </a:stretch>
        </p:blipFill>
        <p:spPr>
          <a:xfrm>
            <a:off x="7454646" y="3641598"/>
            <a:ext cx="315468" cy="315468"/>
          </a:xfrm>
          <a:prstGeom prst="rect">
            <a:avLst/>
          </a:prstGeom>
        </p:spPr>
      </p:pic>
      <p:sp>
        <p:nvSpPr>
          <p:cNvPr id="15" name="Text 11"/>
          <p:cNvSpPr txBox="1"/>
          <p:nvPr/>
        </p:nvSpPr>
        <p:spPr>
          <a:xfrm>
            <a:off x="8138160" y="3291840"/>
            <a:ext cx="32918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api</a:t>
            </a:r>
            <a:endParaRPr lang="en-US" sz="2000" dirty="0"/>
          </a:p>
        </p:txBody>
      </p:sp>
      <p:sp>
        <p:nvSpPr>
          <p:cNvPr id="16" name="Text 12"/>
          <p:cNvSpPr txBox="1"/>
          <p:nvPr/>
        </p:nvSpPr>
        <p:spPr>
          <a:xfrm>
            <a:off x="8138160" y="3703320"/>
            <a:ext cx="3337560" cy="685800"/>
          </a:xfrm>
          <a:prstGeom prst="rect">
            <a:avLst/>
          </a:prstGeom>
          <a:noFill/>
          <a:ln/>
        </p:spPr>
        <p:txBody>
          <a:bodyPr wrap="square" lIns="0" tIns="0" rIns="0" bIns="0" rtlCol="0" anchor="t"/>
          <a:lstStyle/>
          <a:p>
            <a:pPr indent="0" marL="0">
              <a:buNone/>
            </a:pPr>
            <a:r>
              <a:rPr lang="en-US" sz="1400" dirty="0">
                <a:solidFill>
                  <a:schemeClr val="tx1"/>
                </a:solidFill>
              </a:rPr>
              <a:t>FastAPI. Chạy alembic upgrade head rồi mới khởi động uvicorn</a:t>
            </a:r>
            <a:endParaRPr lang="en-US" sz="1400" dirty="0"/>
          </a:p>
        </p:txBody>
      </p:sp>
      <p:sp>
        <p:nvSpPr>
          <p:cNvPr id="17" name="Thẻ container web"/>
          <p:cNvSpPr/>
          <p:nvPr/>
        </p:nvSpPr>
        <p:spPr>
          <a:xfrm>
            <a:off x="7040880" y="4663440"/>
            <a:ext cx="4572000" cy="1371600"/>
          </a:xfrm>
          <a:prstGeom prst="roundRect">
            <a:avLst>
              <a:gd name="adj" fmla="val 8000"/>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18" name="Biểu tượng container web nền"/>
          <p:cNvSpPr/>
          <p:nvPr/>
        </p:nvSpPr>
        <p:spPr>
          <a:xfrm>
            <a:off x="7269480" y="5010912"/>
            <a:ext cx="685800" cy="685800"/>
          </a:xfrm>
          <a:prstGeom prst="ellipse">
            <a:avLst/>
          </a:prstGeom>
          <a:solidFill>
            <a:schemeClr val="accent5"/>
          </a:solidFill>
          <a:ln w="12700">
            <a:solidFill>
              <a:schemeClr val="accent5"/>
            </a:solidFill>
            <a:prstDash val="solid"/>
          </a:ln>
        </p:spPr>
      </p:sp>
      <p:pic>
        <p:nvPicPr>
          <p:cNvPr id="19" name="Biểu tượng container web" descr="FaReact">    </p:cNvPr>
          <p:cNvPicPr>
            <a:picLocks noChangeAspect="1"/>
          </p:cNvPicPr>
          <p:nvPr/>
        </p:nvPicPr>
        <p:blipFill>
          <a:blip r:embed="rId3"/>
          <a:stretch>
            <a:fillRect/>
          </a:stretch>
        </p:blipFill>
        <p:spPr>
          <a:xfrm>
            <a:off x="7454646" y="5196078"/>
            <a:ext cx="315468" cy="315468"/>
          </a:xfrm>
          <a:prstGeom prst="rect">
            <a:avLst/>
          </a:prstGeom>
        </p:spPr>
      </p:pic>
      <p:sp>
        <p:nvSpPr>
          <p:cNvPr id="20" name="Text 15"/>
          <p:cNvSpPr txBox="1"/>
          <p:nvPr/>
        </p:nvSpPr>
        <p:spPr>
          <a:xfrm>
            <a:off x="8138160" y="4846320"/>
            <a:ext cx="3291840"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web</a:t>
            </a:r>
            <a:endParaRPr lang="en-US" sz="2000" dirty="0"/>
          </a:p>
        </p:txBody>
      </p:sp>
      <p:sp>
        <p:nvSpPr>
          <p:cNvPr id="21" name="Text 16"/>
          <p:cNvSpPr txBox="1"/>
          <p:nvPr/>
        </p:nvSpPr>
        <p:spPr>
          <a:xfrm>
            <a:off x="8138160" y="5257800"/>
            <a:ext cx="3337560" cy="685800"/>
          </a:xfrm>
          <a:prstGeom prst="rect">
            <a:avLst/>
          </a:prstGeom>
          <a:noFill/>
          <a:ln/>
        </p:spPr>
        <p:txBody>
          <a:bodyPr wrap="square" lIns="0" tIns="0" rIns="0" bIns="0" rtlCol="0" anchor="t"/>
          <a:lstStyle/>
          <a:p>
            <a:pPr indent="0" marL="0">
              <a:buNone/>
            </a:pPr>
            <a:r>
              <a:rPr lang="en-US" sz="1400" dirty="0">
                <a:solidFill>
                  <a:schemeClr val="tx1"/>
                </a:solidFill>
              </a:rPr>
              <a:t>nginx phục vụ bản build React, chuyển /api sang api</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Kiểm thử và chất lượng</a:t>
            </a:r>
            <a:endParaRPr lang="en-US" sz="3400" dirty="0"/>
          </a:p>
        </p:txBody>
      </p:sp>
      <p:sp>
        <p:nvSpPr>
          <p:cNvPr id="3" name="Thẻ số liệu"/>
          <p:cNvSpPr/>
          <p:nvPr/>
        </p:nvSpPr>
        <p:spPr>
          <a:xfrm>
            <a:off x="548640" y="1508760"/>
            <a:ext cx="3749040" cy="2377440"/>
          </a:xfrm>
          <a:prstGeom prst="roundRect">
            <a:avLst>
              <a:gd name="adj" fmla="val 4615"/>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4" name="Text 2"/>
          <p:cNvSpPr txBox="1"/>
          <p:nvPr/>
        </p:nvSpPr>
        <p:spPr>
          <a:xfrm>
            <a:off x="822960" y="1737360"/>
            <a:ext cx="3200400" cy="118872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15/15</a:t>
            </a:r>
            <a:endParaRPr lang="en-US" sz="5400" dirty="0"/>
          </a:p>
        </p:txBody>
      </p:sp>
      <p:sp>
        <p:nvSpPr>
          <p:cNvPr id="5" name="Text 3"/>
          <p:cNvSpPr txBox="1"/>
          <p:nvPr/>
        </p:nvSpPr>
        <p:spPr>
          <a:xfrm>
            <a:off x="822960" y="2887675"/>
            <a:ext cx="3200400" cy="808330"/>
          </a:xfrm>
          <a:prstGeom prst="rect">
            <a:avLst/>
          </a:prstGeom>
          <a:noFill/>
          <a:ln/>
        </p:spPr>
        <p:txBody>
          <a:bodyPr wrap="square" lIns="0" tIns="0" rIns="0" bIns="0" rtlCol="0" anchor="t"/>
          <a:lstStyle/>
          <a:p>
            <a:pPr indent="0" marL="0">
              <a:buNone/>
            </a:pPr>
            <a:r>
              <a:rPr lang="en-US" sz="1600" dirty="0">
                <a:solidFill>
                  <a:schemeClr val="tx1"/>
                </a:solidFill>
              </a:rPr>
              <a:t>test tự động đạt (pytest)</a:t>
            </a:r>
            <a:endParaRPr lang="en-US" sz="1600" dirty="0"/>
          </a:p>
        </p:txBody>
      </p:sp>
      <p:sp>
        <p:nvSpPr>
          <p:cNvPr id="6" name="Ghi chú kiểm thử"/>
          <p:cNvSpPr/>
          <p:nvPr/>
        </p:nvSpPr>
        <p:spPr>
          <a:xfrm>
            <a:off x="548640" y="4114800"/>
            <a:ext cx="3749040" cy="1920240"/>
          </a:xfrm>
          <a:prstGeom prst="roundRect">
            <a:avLst>
              <a:gd name="adj" fmla="val 5714"/>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7" name="Text 5"/>
          <p:cNvSpPr txBox="1"/>
          <p:nvPr/>
        </p:nvSpPr>
        <p:spPr>
          <a:xfrm>
            <a:off x="822960" y="4343400"/>
            <a:ext cx="3200400" cy="1554480"/>
          </a:xfrm>
          <a:prstGeom prst="rect">
            <a:avLst/>
          </a:prstGeom>
          <a:noFill/>
          <a:ln/>
        </p:spPr>
        <p:txBody>
          <a:bodyPr wrap="square" lIns="0" tIns="0" rIns="0" bIns="0" rtlCol="0" anchor="t"/>
          <a:lstStyle/>
          <a:p>
            <a:pPr indent="0" marL="0">
              <a:buNone/>
            </a:pPr>
            <a:r>
              <a:rPr lang="en-US" sz="1400" dirty="0">
                <a:solidFill>
                  <a:schemeClr val="tx1"/>
                </a:solidFill>
              </a:rPr>
              <a:t>Test chạy trên SQLite riêng, không đụng PostgreSQL. Phần PostgreSQL được kiểm bằng migration và chạy thử API thật.</a:t>
            </a:r>
            <a:endParaRPr lang="en-US" sz="1400" dirty="0"/>
          </a:p>
        </p:txBody>
      </p:sp>
      <p:sp>
        <p:nvSpPr>
          <p:cNvPr id="8" name="Thẻ nội dung kiểm thử"/>
          <p:cNvSpPr/>
          <p:nvPr/>
        </p:nvSpPr>
        <p:spPr>
          <a:xfrm>
            <a:off x="4663440" y="1508760"/>
            <a:ext cx="6949440" cy="4526280"/>
          </a:xfrm>
          <a:prstGeom prst="roundRect">
            <a:avLst>
              <a:gd name="adj" fmla="val 2424"/>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9" name="Text 7"/>
          <p:cNvSpPr txBox="1"/>
          <p:nvPr/>
        </p:nvSpPr>
        <p:spPr>
          <a:xfrm>
            <a:off x="5029200" y="1737360"/>
            <a:ext cx="62179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Các tình huống được kiểm thử</a:t>
            </a:r>
            <a:endParaRPr lang="en-US" sz="2200" dirty="0"/>
          </a:p>
        </p:txBody>
      </p:sp>
      <p:pic>
        <p:nvPicPr>
          <p:cNvPr id="10" name="Dấu đạt 1" descr="Đạt">    </p:cNvPr>
          <p:cNvPicPr>
            <a:picLocks noChangeAspect="1"/>
          </p:cNvPicPr>
          <p:nvPr/>
        </p:nvPicPr>
        <p:blipFill>
          <a:blip r:embed="rId1"/>
          <a:stretch>
            <a:fillRect/>
          </a:stretch>
        </p:blipFill>
        <p:spPr>
          <a:xfrm>
            <a:off x="5029200" y="2414016"/>
            <a:ext cx="292608" cy="292608"/>
          </a:xfrm>
          <a:prstGeom prst="rect">
            <a:avLst/>
          </a:prstGeom>
        </p:spPr>
      </p:pic>
      <p:sp>
        <p:nvSpPr>
          <p:cNvPr id="11" name="Text 8"/>
          <p:cNvSpPr txBox="1"/>
          <p:nvPr/>
        </p:nvSpPr>
        <p:spPr>
          <a:xfrm>
            <a:off x="5486400" y="2377440"/>
            <a:ext cx="5852160" cy="365760"/>
          </a:xfrm>
          <a:prstGeom prst="rect">
            <a:avLst/>
          </a:prstGeom>
          <a:noFill/>
          <a:ln/>
        </p:spPr>
        <p:txBody>
          <a:bodyPr wrap="square" lIns="0" tIns="0" rIns="0" bIns="0" rtlCol="0" anchor="ctr"/>
          <a:lstStyle/>
          <a:p>
            <a:pPr indent="0" marL="0">
              <a:buNone/>
            </a:pPr>
            <a:r>
              <a:rPr lang="en-US" sz="1600" dirty="0">
                <a:solidFill>
                  <a:schemeClr val="tx1"/>
                </a:solidFill>
              </a:rPr>
              <a:t>Khóa tài khoản sau 5 lần đăng nhập sai</a:t>
            </a:r>
            <a:endParaRPr lang="en-US" sz="1600" dirty="0"/>
          </a:p>
        </p:txBody>
      </p:sp>
      <p:pic>
        <p:nvPicPr>
          <p:cNvPr id="12" name="Dấu đạt 2" descr="Đạt">    </p:cNvPr>
          <p:cNvPicPr>
            <a:picLocks noChangeAspect="1"/>
          </p:cNvPicPr>
          <p:nvPr/>
        </p:nvPicPr>
        <p:blipFill>
          <a:blip r:embed="rId2"/>
          <a:stretch>
            <a:fillRect/>
          </a:stretch>
        </p:blipFill>
        <p:spPr>
          <a:xfrm>
            <a:off x="5029200" y="2935224"/>
            <a:ext cx="292608" cy="292608"/>
          </a:xfrm>
          <a:prstGeom prst="rect">
            <a:avLst/>
          </a:prstGeom>
        </p:spPr>
      </p:pic>
      <p:sp>
        <p:nvSpPr>
          <p:cNvPr id="13" name="Text 9"/>
          <p:cNvSpPr txBox="1"/>
          <p:nvPr/>
        </p:nvSpPr>
        <p:spPr>
          <a:xfrm>
            <a:off x="5486400" y="2898648"/>
            <a:ext cx="5852160" cy="365760"/>
          </a:xfrm>
          <a:prstGeom prst="rect">
            <a:avLst/>
          </a:prstGeom>
          <a:noFill/>
          <a:ln/>
        </p:spPr>
        <p:txBody>
          <a:bodyPr wrap="square" lIns="0" tIns="0" rIns="0" bIns="0" rtlCol="0" anchor="ctr"/>
          <a:lstStyle/>
          <a:p>
            <a:pPr indent="0" marL="0">
              <a:buNone/>
            </a:pPr>
            <a:r>
              <a:rPr lang="en-US" sz="1600" dirty="0">
                <a:solidFill>
                  <a:schemeClr val="tx1"/>
                </a:solidFill>
              </a:rPr>
              <a:t>Phân quyền theo vai trò (học viên, phụ huynh, giáo viên)</a:t>
            </a:r>
            <a:endParaRPr lang="en-US" sz="1600" dirty="0"/>
          </a:p>
        </p:txBody>
      </p:sp>
      <p:pic>
        <p:nvPicPr>
          <p:cNvPr id="14" name="Dấu đạt 3" descr="Đạt">    </p:cNvPr>
          <p:cNvPicPr>
            <a:picLocks noChangeAspect="1"/>
          </p:cNvPicPr>
          <p:nvPr/>
        </p:nvPicPr>
        <p:blipFill>
          <a:blip r:embed="rId3"/>
          <a:stretch>
            <a:fillRect/>
          </a:stretch>
        </p:blipFill>
        <p:spPr>
          <a:xfrm>
            <a:off x="5029200" y="3456432"/>
            <a:ext cx="292608" cy="292608"/>
          </a:xfrm>
          <a:prstGeom prst="rect">
            <a:avLst/>
          </a:prstGeom>
        </p:spPr>
      </p:pic>
      <p:sp>
        <p:nvSpPr>
          <p:cNvPr id="15" name="Text 10"/>
          <p:cNvSpPr txBox="1"/>
          <p:nvPr/>
        </p:nvSpPr>
        <p:spPr>
          <a:xfrm>
            <a:off x="5486400" y="3419856"/>
            <a:ext cx="5852160" cy="365760"/>
          </a:xfrm>
          <a:prstGeom prst="rect">
            <a:avLst/>
          </a:prstGeom>
          <a:noFill/>
          <a:ln/>
        </p:spPr>
        <p:txBody>
          <a:bodyPr wrap="square" lIns="0" tIns="0" rIns="0" bIns="0" rtlCol="0" anchor="ctr"/>
          <a:lstStyle/>
          <a:p>
            <a:pPr indent="0" marL="0">
              <a:buNone/>
            </a:pPr>
            <a:r>
              <a:rPr lang="en-US" sz="1600" dirty="0">
                <a:solidFill>
                  <a:schemeClr val="tx1"/>
                </a:solidFill>
              </a:rPr>
              <a:t>Điểm danh cập nhật, không tạo trùng</a:t>
            </a:r>
            <a:endParaRPr lang="en-US" sz="1600" dirty="0"/>
          </a:p>
        </p:txBody>
      </p:sp>
      <p:pic>
        <p:nvPicPr>
          <p:cNvPr id="16" name="Dấu đạt 4" descr="Đạt">    </p:cNvPr>
          <p:cNvPicPr>
            <a:picLocks noChangeAspect="1"/>
          </p:cNvPicPr>
          <p:nvPr/>
        </p:nvPicPr>
        <p:blipFill>
          <a:blip r:embed="rId4"/>
          <a:stretch>
            <a:fillRect/>
          </a:stretch>
        </p:blipFill>
        <p:spPr>
          <a:xfrm>
            <a:off x="5029200" y="3977640"/>
            <a:ext cx="292608" cy="292608"/>
          </a:xfrm>
          <a:prstGeom prst="rect">
            <a:avLst/>
          </a:prstGeom>
        </p:spPr>
      </p:pic>
      <p:sp>
        <p:nvSpPr>
          <p:cNvPr id="17" name="Text 11"/>
          <p:cNvSpPr txBox="1"/>
          <p:nvPr/>
        </p:nvSpPr>
        <p:spPr>
          <a:xfrm>
            <a:off x="5486400" y="3941064"/>
            <a:ext cx="5852160" cy="365760"/>
          </a:xfrm>
          <a:prstGeom prst="rect">
            <a:avLst/>
          </a:prstGeom>
          <a:noFill/>
          <a:ln/>
        </p:spPr>
        <p:txBody>
          <a:bodyPr wrap="square" lIns="0" tIns="0" rIns="0" bIns="0" rtlCol="0" anchor="ctr"/>
          <a:lstStyle/>
          <a:p>
            <a:pPr indent="0" marL="0">
              <a:buNone/>
            </a:pPr>
            <a:r>
              <a:rPr lang="en-US" sz="1600" dirty="0">
                <a:solidFill>
                  <a:schemeClr val="tx1"/>
                </a:solidFill>
              </a:rPr>
              <a:t>Từ chối điểm vượt mức tối đa, học viên ngoài lớp</a:t>
            </a:r>
            <a:endParaRPr lang="en-US" sz="1600" dirty="0"/>
          </a:p>
        </p:txBody>
      </p:sp>
      <p:pic>
        <p:nvPicPr>
          <p:cNvPr id="18" name="Dấu đạt 5" descr="Đạt">    </p:cNvPr>
          <p:cNvPicPr>
            <a:picLocks noChangeAspect="1"/>
          </p:cNvPicPr>
          <p:nvPr/>
        </p:nvPicPr>
        <p:blipFill>
          <a:blip r:embed="rId5"/>
          <a:stretch>
            <a:fillRect/>
          </a:stretch>
        </p:blipFill>
        <p:spPr>
          <a:xfrm>
            <a:off x="5029200" y="4498848"/>
            <a:ext cx="292608" cy="292608"/>
          </a:xfrm>
          <a:prstGeom prst="rect">
            <a:avLst/>
          </a:prstGeom>
        </p:spPr>
      </p:pic>
      <p:sp>
        <p:nvSpPr>
          <p:cNvPr id="19" name="Text 12"/>
          <p:cNvSpPr txBox="1"/>
          <p:nvPr/>
        </p:nvSpPr>
        <p:spPr>
          <a:xfrm>
            <a:off x="5486400" y="4462272"/>
            <a:ext cx="5852160" cy="365760"/>
          </a:xfrm>
          <a:prstGeom prst="rect">
            <a:avLst/>
          </a:prstGeom>
          <a:noFill/>
          <a:ln/>
        </p:spPr>
        <p:txBody>
          <a:bodyPr wrap="square" lIns="0" tIns="0" rIns="0" bIns="0" rtlCol="0" anchor="ctr"/>
          <a:lstStyle/>
          <a:p>
            <a:pPr indent="0" marL="0">
              <a:buNone/>
            </a:pPr>
            <a:r>
              <a:rPr lang="en-US" sz="1600" dirty="0">
                <a:solidFill>
                  <a:schemeClr val="tx1"/>
                </a:solidFill>
              </a:rPr>
              <a:t>Học phí: đánh dấu quá hạn, ghi nhận thanh toán</a:t>
            </a:r>
            <a:endParaRPr lang="en-US" sz="1600" dirty="0"/>
          </a:p>
        </p:txBody>
      </p:sp>
      <p:pic>
        <p:nvPicPr>
          <p:cNvPr id="20" name="Dấu đạt 6" descr="Đạt">    </p:cNvPr>
          <p:cNvPicPr>
            <a:picLocks noChangeAspect="1"/>
          </p:cNvPicPr>
          <p:nvPr/>
        </p:nvPicPr>
        <p:blipFill>
          <a:blip r:embed="rId6"/>
          <a:stretch>
            <a:fillRect/>
          </a:stretch>
        </p:blipFill>
        <p:spPr>
          <a:xfrm>
            <a:off x="5029200" y="5020056"/>
            <a:ext cx="292608" cy="292608"/>
          </a:xfrm>
          <a:prstGeom prst="rect">
            <a:avLst/>
          </a:prstGeom>
        </p:spPr>
      </p:pic>
      <p:sp>
        <p:nvSpPr>
          <p:cNvPr id="21" name="Text 13"/>
          <p:cNvSpPr txBox="1"/>
          <p:nvPr/>
        </p:nvSpPr>
        <p:spPr>
          <a:xfrm>
            <a:off x="5486400" y="4983480"/>
            <a:ext cx="5852160" cy="365760"/>
          </a:xfrm>
          <a:prstGeom prst="rect">
            <a:avLst/>
          </a:prstGeom>
          <a:noFill/>
          <a:ln/>
        </p:spPr>
        <p:txBody>
          <a:bodyPr wrap="square" lIns="0" tIns="0" rIns="0" bIns="0" rtlCol="0" anchor="ctr"/>
          <a:lstStyle/>
          <a:p>
            <a:pPr indent="0" marL="0">
              <a:buNone/>
            </a:pPr>
            <a:r>
              <a:rPr lang="en-US" sz="1600" dirty="0">
                <a:solidFill>
                  <a:schemeClr val="tx1"/>
                </a:solidFill>
              </a:rPr>
              <a:t>Báo cáo lớp và xuất tệp Excel</a:t>
            </a:r>
            <a:endParaRPr lang="en-US" sz="1600" dirty="0"/>
          </a:p>
        </p:txBody>
      </p:sp>
      <p:pic>
        <p:nvPicPr>
          <p:cNvPr id="22" name="Dấu đạt 7" descr="Đạt">    </p:cNvPr>
          <p:cNvPicPr>
            <a:picLocks noChangeAspect="1"/>
          </p:cNvPicPr>
          <p:nvPr/>
        </p:nvPicPr>
        <p:blipFill>
          <a:blip r:embed="rId7"/>
          <a:stretch>
            <a:fillRect/>
          </a:stretch>
        </p:blipFill>
        <p:spPr>
          <a:xfrm>
            <a:off x="5029200" y="5541264"/>
            <a:ext cx="292608" cy="292608"/>
          </a:xfrm>
          <a:prstGeom prst="rect">
            <a:avLst/>
          </a:prstGeom>
        </p:spPr>
      </p:pic>
      <p:sp>
        <p:nvSpPr>
          <p:cNvPr id="23" name="Text 14"/>
          <p:cNvSpPr txBox="1"/>
          <p:nvPr/>
        </p:nvSpPr>
        <p:spPr>
          <a:xfrm>
            <a:off x="5486400" y="5504688"/>
            <a:ext cx="5852160" cy="365760"/>
          </a:xfrm>
          <a:prstGeom prst="rect">
            <a:avLst/>
          </a:prstGeom>
          <a:noFill/>
          <a:ln/>
        </p:spPr>
        <p:txBody>
          <a:bodyPr wrap="square" lIns="0" tIns="0" rIns="0" bIns="0" rtlCol="0" anchor="ctr"/>
          <a:lstStyle/>
          <a:p>
            <a:pPr indent="0" marL="0">
              <a:buNone/>
            </a:pPr>
            <a:r>
              <a:rPr lang="en-US" sz="1600" dirty="0">
                <a:solidFill>
                  <a:schemeClr val="tx1"/>
                </a:solidFill>
              </a:rPr>
              <a:t>AI Coach tự rơi về bộ nhận xét theo luật</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Hạn chế và hướng phát triển</a:t>
            </a:r>
            <a:endParaRPr lang="en-US" sz="3400" dirty="0"/>
          </a:p>
        </p:txBody>
      </p:sp>
      <p:sp>
        <p:nvSpPr>
          <p:cNvPr id="3" name="Thẻ hạn chế"/>
          <p:cNvSpPr/>
          <p:nvPr/>
        </p:nvSpPr>
        <p:spPr>
          <a:xfrm>
            <a:off x="548640" y="1508760"/>
            <a:ext cx="5440680" cy="4526280"/>
          </a:xfrm>
          <a:prstGeom prst="roundRect">
            <a:avLst>
              <a:gd name="adj" fmla="val 2424"/>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4" name="Biểu tượng hạn chế nền"/>
          <p:cNvSpPr/>
          <p:nvPr/>
        </p:nvSpPr>
        <p:spPr>
          <a:xfrm>
            <a:off x="868680" y="1783080"/>
            <a:ext cx="640080" cy="640080"/>
          </a:xfrm>
          <a:prstGeom prst="ellipse">
            <a:avLst/>
          </a:prstGeom>
          <a:solidFill>
            <a:schemeClr val="accent3"/>
          </a:solidFill>
          <a:ln w="12700">
            <a:solidFill>
              <a:schemeClr val="accent3"/>
            </a:solidFill>
            <a:prstDash val="solid"/>
          </a:ln>
        </p:spPr>
      </p:sp>
      <p:pic>
        <p:nvPicPr>
          <p:cNvPr id="5" name="Biểu tượng hạn chế" descr="FaExclamationTriangle">    </p:cNvPr>
          <p:cNvPicPr>
            <a:picLocks noChangeAspect="1"/>
          </p:cNvPicPr>
          <p:nvPr/>
        </p:nvPicPr>
        <p:blipFill>
          <a:blip r:embed="rId1"/>
          <a:stretch>
            <a:fillRect/>
          </a:stretch>
        </p:blipFill>
        <p:spPr>
          <a:xfrm>
            <a:off x="1041502" y="1955902"/>
            <a:ext cx="294437" cy="294437"/>
          </a:xfrm>
          <a:prstGeom prst="rect">
            <a:avLst/>
          </a:prstGeom>
        </p:spPr>
      </p:pic>
      <p:sp>
        <p:nvSpPr>
          <p:cNvPr id="6" name="Text 3"/>
          <p:cNvSpPr txBox="1"/>
          <p:nvPr/>
        </p:nvSpPr>
        <p:spPr>
          <a:xfrm>
            <a:off x="1691640" y="1874520"/>
            <a:ext cx="402336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Hạn chế hiện tại</a:t>
            </a:r>
            <a:endParaRPr lang="en-US" sz="2400" dirty="0"/>
          </a:p>
        </p:txBody>
      </p:sp>
      <p:sp>
        <p:nvSpPr>
          <p:cNvPr id="7" name="Text 4"/>
          <p:cNvSpPr txBox="1"/>
          <p:nvPr/>
        </p:nvSpPr>
        <p:spPr>
          <a:xfrm>
            <a:off x="868680" y="2743200"/>
            <a:ext cx="4846320" cy="310896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JWT lưu ở localStorage, chưa có refresh token</a:t>
            </a:r>
            <a:endParaRPr lang="en-US" sz="1800" dirty="0"/>
          </a:p>
          <a:p>
            <a:pPr marL="228600" indent="-228600">
              <a:spcAft>
                <a:spcPts val="1000"/>
              </a:spcAft>
              <a:buSzPct val="100000"/>
              <a:buChar char="•"/>
            </a:pPr>
            <a:r>
              <a:rPr lang="en-US" sz="1800" dirty="0">
                <a:solidFill>
                  <a:schemeClr val="tx1"/>
                </a:solidFill>
              </a:rPr>
              <a:t>Chưa có test giao diện và CI</a:t>
            </a:r>
            <a:endParaRPr lang="en-US" sz="1800" dirty="0"/>
          </a:p>
          <a:p>
            <a:pPr marL="228600" indent="-228600">
              <a:spcAft>
                <a:spcPts val="1000"/>
              </a:spcAft>
              <a:buSzPct val="100000"/>
              <a:buChar char="•"/>
            </a:pPr>
            <a:r>
              <a:rPr lang="en-US" sz="1800" dirty="0">
                <a:solidFill>
                  <a:schemeClr val="tx1"/>
                </a:solidFill>
              </a:rPr>
              <a:t>Giao diện chưa có đổi mật khẩu, liên kết phụ huynh (API đã có)</a:t>
            </a:r>
            <a:endParaRPr lang="en-US" sz="1800" dirty="0"/>
          </a:p>
          <a:p>
            <a:pPr marL="228600" indent="-228600">
              <a:spcAft>
                <a:spcPts val="1000"/>
              </a:spcAft>
              <a:buSzPct val="100000"/>
              <a:buChar char="•"/>
            </a:pPr>
            <a:r>
              <a:rPr lang="en-US" sz="1800" dirty="0">
                <a:solidFill>
                  <a:schemeClr val="tx1"/>
                </a:solidFill>
              </a:rPr>
              <a:t>Chưa có cập nhật thời gian thực như bản tham khảo</a:t>
            </a:r>
            <a:endParaRPr lang="en-US" sz="1800" dirty="0"/>
          </a:p>
        </p:txBody>
      </p:sp>
      <p:sp>
        <p:nvSpPr>
          <p:cNvPr id="8" name="Thẻ hướng phát triển"/>
          <p:cNvSpPr/>
          <p:nvPr/>
        </p:nvSpPr>
        <p:spPr>
          <a:xfrm>
            <a:off x="6199632" y="1508760"/>
            <a:ext cx="5440680" cy="4526280"/>
          </a:xfrm>
          <a:prstGeom prst="roundRect">
            <a:avLst>
              <a:gd name="adj" fmla="val 2424"/>
            </a:avLst>
          </a:prstGeom>
          <a:solidFill>
            <a:schemeClr val="bg1"/>
          </a:solidFill>
          <a:ln w="9525">
            <a:solidFill>
              <a:srgbClr val="E2E8F0"/>
            </a:solidFill>
            <a:prstDash val="solid"/>
          </a:ln>
          <a:effectLst>
            <a:outerShdw sx="100000" sy="100000" kx="0" ky="0" algn="bl" rotWithShape="0" blurRad="127000" dist="25400" dir="5400000">
              <a:srgbClr val="1B1F3B">
                <a:alpha val="14000"/>
              </a:srgbClr>
            </a:outerShdw>
          </a:effectLst>
        </p:spPr>
      </p:sp>
      <p:sp>
        <p:nvSpPr>
          <p:cNvPr id="9" name="Biểu tượng hướng phát triển nền"/>
          <p:cNvSpPr/>
          <p:nvPr/>
        </p:nvSpPr>
        <p:spPr>
          <a:xfrm>
            <a:off x="6519672" y="1783080"/>
            <a:ext cx="640080" cy="640080"/>
          </a:xfrm>
          <a:prstGeom prst="ellipse">
            <a:avLst/>
          </a:prstGeom>
          <a:solidFill>
            <a:schemeClr val="accent2"/>
          </a:solidFill>
          <a:ln w="12700">
            <a:solidFill>
              <a:schemeClr val="accent2"/>
            </a:solidFill>
            <a:prstDash val="solid"/>
          </a:ln>
        </p:spPr>
      </p:sp>
      <p:pic>
        <p:nvPicPr>
          <p:cNvPr id="10" name="Biểu tượng hướng phát triển" descr="FaRocket">    </p:cNvPr>
          <p:cNvPicPr>
            <a:picLocks noChangeAspect="1"/>
          </p:cNvPicPr>
          <p:nvPr/>
        </p:nvPicPr>
        <p:blipFill>
          <a:blip r:embed="rId2"/>
          <a:stretch>
            <a:fillRect/>
          </a:stretch>
        </p:blipFill>
        <p:spPr>
          <a:xfrm>
            <a:off x="6692494" y="1955902"/>
            <a:ext cx="294437" cy="294437"/>
          </a:xfrm>
          <a:prstGeom prst="rect">
            <a:avLst/>
          </a:prstGeom>
        </p:spPr>
      </p:pic>
      <p:sp>
        <p:nvSpPr>
          <p:cNvPr id="11" name="Text 7"/>
          <p:cNvSpPr txBox="1"/>
          <p:nvPr/>
        </p:nvSpPr>
        <p:spPr>
          <a:xfrm>
            <a:off x="7342632" y="1874520"/>
            <a:ext cx="402336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Hướng phát triển</a:t>
            </a:r>
            <a:endParaRPr lang="en-US" sz="2400" dirty="0"/>
          </a:p>
        </p:txBody>
      </p:sp>
      <p:sp>
        <p:nvSpPr>
          <p:cNvPr id="12" name="Text 8"/>
          <p:cNvSpPr txBox="1"/>
          <p:nvPr/>
        </p:nvSpPr>
        <p:spPr>
          <a:xfrm>
            <a:off x="6519672" y="2743200"/>
            <a:ext cx="4846320" cy="310896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Cookie HttpOnly và refresh token</a:t>
            </a:r>
            <a:endParaRPr lang="en-US" sz="1800" dirty="0"/>
          </a:p>
          <a:p>
            <a:pPr marL="228600" indent="-228600">
              <a:spcAft>
                <a:spcPts val="1000"/>
              </a:spcAft>
              <a:buSzPct val="100000"/>
              <a:buChar char="•"/>
            </a:pPr>
            <a:r>
              <a:rPr lang="en-US" sz="1800" dirty="0">
                <a:solidFill>
                  <a:schemeClr val="tx1"/>
                </a:solidFill>
              </a:rPr>
              <a:t>CI chạy pytest và build giao diện</a:t>
            </a:r>
            <a:endParaRPr lang="en-US" sz="1800" dirty="0"/>
          </a:p>
          <a:p>
            <a:pPr marL="228600" indent="-228600">
              <a:spcAft>
                <a:spcPts val="1000"/>
              </a:spcAft>
              <a:buSzPct val="100000"/>
              <a:buChar char="•"/>
            </a:pPr>
            <a:r>
              <a:rPr lang="en-US" sz="1800" dirty="0">
                <a:solidFill>
                  <a:schemeClr val="tx1"/>
                </a:solidFill>
              </a:rPr>
              <a:t>Thêm module chat, thông báo</a:t>
            </a:r>
            <a:endParaRPr lang="en-US" sz="1800" dirty="0"/>
          </a:p>
          <a:p>
            <a:pPr marL="228600" indent="-228600">
              <a:spcAft>
                <a:spcPts val="1000"/>
              </a:spcAft>
              <a:buSzPct val="100000"/>
              <a:buChar char="•"/>
            </a:pPr>
            <a:r>
              <a:rPr lang="en-US" sz="1800" dirty="0">
                <a:solidFill>
                  <a:schemeClr val="tx1"/>
                </a:solidFill>
              </a:rPr>
              <a:t>Nhiều bản sao API, đưa lên Kubernetes</a:t>
            </a:r>
            <a:endParaRPr lang="en-US" sz="18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5394960" cy="1737360"/>
          </a:xfrm>
          <a:prstGeom prst="rect">
            <a:avLst/>
          </a:prstGeom>
          <a:noFill/>
          <a:ln/>
        </p:spPr>
        <p:txBody>
          <a:bodyPr wrap="square" lIns="0" tIns="0" rIns="0" bIns="0" rtlCol="0" anchor="t"/>
          <a:lstStyle/>
          <a:p>
            <a:pPr algn="l" indent="0" marL="0">
              <a:buNone/>
            </a:pPr>
            <a:r>
              <a:rPr lang="en-US" sz="4400" b="1" dirty="0">
                <a:solidFill>
                  <a:schemeClr val="bg1"/>
                </a:solidFill>
              </a:rPr>
              <a:t>Cảm ơn thầy/cô và các bạn đã lắng nghe</a:t>
            </a:r>
            <a:endParaRPr lang="en-US" sz="4400" dirty="0"/>
          </a:p>
        </p:txBody>
      </p:sp>
      <p:sp>
        <p:nvSpPr>
          <p:cNvPr id="3" name="Text 0"/>
          <p:cNvSpPr/>
          <p:nvPr>
            <p:ph idx="101" type="body" hasCustomPrompt="1"/>
          </p:nvPr>
        </p:nvSpPr>
        <p:spPr>
          <a:xfrm>
            <a:off x="731520" y="3703320"/>
            <a:ext cx="5394960" cy="1097280"/>
          </a:xfrm>
          <a:prstGeom prst="rect">
            <a:avLst/>
          </a:prstGeom>
          <a:noFill/>
          <a:ln/>
        </p:spPr>
        <p:txBody>
          <a:bodyPr wrap="square" lIns="0" tIns="0" rIns="0" bIns="0" rtlCol="0" anchor="t"/>
          <a:lstStyle/>
          <a:p>
            <a:pPr algn="l" indent="0" marL="0">
              <a:buNone/>
            </a:pPr>
            <a:r>
              <a:rPr lang="en-US" sz="2000" dirty="0">
                <a:solidFill>
                  <a:schemeClr val="bg2"/>
                </a:solidFill>
              </a:rPr>
              <a:t>Xin mời đặt câu hỏi</a:t>
            </a:r>
            <a:endParaRPr lang="en-US" sz="2000" dirty="0"/>
          </a:p>
        </p:txBody>
      </p:sp>
      <p:sp>
        <p:nvSpPr>
          <p:cNvPr id="4" name="Text 2"/>
          <p:cNvSpPr txBox="1"/>
          <p:nvPr/>
        </p:nvSpPr>
        <p:spPr>
          <a:xfrm>
            <a:off x="731520" y="5120640"/>
            <a:ext cx="5394960" cy="365760"/>
          </a:xfrm>
          <a:prstGeom prst="rect">
            <a:avLst/>
          </a:prstGeom>
          <a:noFill/>
          <a:ln/>
        </p:spPr>
        <p:txBody>
          <a:bodyPr wrap="square" lIns="0" tIns="0" rIns="0" bIns="0" rtlCol="0" anchor="t"/>
          <a:lstStyle/>
          <a:p>
            <a:pPr indent="0" marL="0">
              <a:buNone/>
            </a:pPr>
            <a:r>
              <a:rPr lang="en-US" sz="1800" b="1" dirty="0">
                <a:solidFill>
                  <a:schemeClr val="bg1"/>
                </a:solidFill>
              </a:rPr>
              <a:t>github.com/laviquyen229/ProjectHKII</a:t>
            </a:r>
            <a:endParaRPr lang="en-US" sz="1800" dirty="0"/>
          </a:p>
        </p:txBody>
      </p:sp>
      <p:sp>
        <p:nvSpPr>
          <p:cNvPr id="5" name="Text 3"/>
          <p:cNvSpPr txBox="1"/>
          <p:nvPr/>
        </p:nvSpPr>
        <p:spPr>
          <a:xfrm>
            <a:off x="731520" y="5577840"/>
            <a:ext cx="5394960" cy="365760"/>
          </a:xfrm>
          <a:prstGeom prst="rect">
            <a:avLst/>
          </a:prstGeom>
          <a:noFill/>
          <a:ln/>
        </p:spPr>
        <p:txBody>
          <a:bodyPr wrap="square" lIns="0" tIns="0" rIns="0" bIns="0" rtlCol="0" anchor="t"/>
          <a:lstStyle/>
          <a:p>
            <a:pPr indent="0" marL="0">
              <a:buNone/>
            </a:pPr>
            <a:r>
              <a:rPr lang="en-US" sz="1400" dirty="0">
                <a:solidFill>
                  <a:schemeClr val="bg2"/>
                </a:solidFill>
              </a:rPr>
              <a:t>Giao diện: localhost:8080   ·   API: localhost:8000/docs</a:t>
            </a:r>
            <a:endParaRPr lang="en-US" sz="1400" dirty="0"/>
          </a:p>
        </p:txBody>
      </p:sp>
      <p:sp>
        <p:nvSpPr>
          <p:cNvPr id="6" name="Biểu tượng kết nền"/>
          <p:cNvSpPr/>
          <p:nvPr/>
        </p:nvSpPr>
        <p:spPr>
          <a:xfrm>
            <a:off x="7498080" y="2011680"/>
            <a:ext cx="2926080" cy="2926080"/>
          </a:xfrm>
          <a:prstGeom prst="ellipse">
            <a:avLst/>
          </a:prstGeom>
          <a:solidFill>
            <a:schemeClr val="accent1"/>
          </a:solidFill>
          <a:ln w="12700">
            <a:solidFill>
              <a:schemeClr val="accent1"/>
            </a:solidFill>
            <a:prstDash val="solid"/>
          </a:ln>
        </p:spPr>
      </p:sp>
      <p:pic>
        <p:nvPicPr>
          <p:cNvPr id="7" name="Biểu tượng kết" descr="FaCheckCircle">    </p:cNvPr>
          <p:cNvPicPr>
            <a:picLocks noChangeAspect="1"/>
          </p:cNvPicPr>
          <p:nvPr/>
        </p:nvPicPr>
        <p:blipFill>
          <a:blip r:embed="rId1"/>
          <a:stretch>
            <a:fillRect/>
          </a:stretch>
        </p:blipFill>
        <p:spPr>
          <a:xfrm>
            <a:off x="8288122" y="2801722"/>
            <a:ext cx="1345997" cy="1345997"/>
          </a:xfrm>
          <a:prstGeom prst="rect">
            <a:avLst/>
          </a:prstGeom>
        </p:spPr>
      </p:pic>
    </p:spTree>
  </p:cSld>
  <p:clrMapOvr>
    <a:masterClrMapping/>
  </p:clrMapOvr>
</p:sld>
</file>

<file path=ppt/theme/theme1.xml><?xml version="1.0" encoding="utf-8"?>
<a:theme xmlns:a="http://schemas.openxmlformats.org/drawingml/2006/main" name="HKII">
  <a:themeElements>
    <a:clrScheme name="HKII">
      <a:dk1>
        <a:srgbClr val="1B1F3B"/>
      </a:dk1>
      <a:lt1>
        <a:srgbClr val="FFFFFF"/>
      </a:lt1>
      <a:dk2>
        <a:srgbClr val="2B2870"/>
      </a:dk2>
      <a:lt2>
        <a:srgbClr val="F3F4FB"/>
      </a:lt2>
      <a:accent1>
        <a:srgbClr val="4F46E5"/>
      </a:accent1>
      <a:accent2>
        <a:srgbClr val="059669"/>
      </a:accent2>
      <a:accent3>
        <a:srgbClr val="D97706"/>
      </a:accent3>
      <a:accent4>
        <a:srgbClr val="DC2626"/>
      </a:accent4>
      <a:accent5>
        <a:srgbClr val="0284C7"/>
      </a:accent5>
      <a:accent6>
        <a:srgbClr val="64748B"/>
      </a:accent6>
      <a:hlink>
        <a:srgbClr val="4F46E5"/>
      </a:hlink>
      <a:folHlink>
        <a:srgbClr val="64748B"/>
      </a:folHlink>
    </a:clrScheme>
    <a:fontScheme name="HKI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HKII - Hệ thống quản lý trung tâm (FastAPI + PostgreSQL + Docker)</dc:title>
  <dc:subject>PptxGenJS Presentation</dc:subject>
  <dc:creator>La Vi Quyen</dc:creator>
  <cp:lastModifiedBy>La Vi Quyen</cp:lastModifiedBy>
  <cp:revision>1</cp:revision>
  <dcterms:created xsi:type="dcterms:W3CDTF">2026-10-17T04:09:09Z</dcterms:created>
  <dcterms:modified xsi:type="dcterms:W3CDTF">2026-10-17T04:09:09Z</dcterms:modified>
</cp:coreProperties>
</file>