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Be Vietnam Pro"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Hôm nay nhóm 3 báo cáo tiến độ lần 1 đồ án HKII: EduCenter Management System. Nội dung gồm hai phần: so sánh app EDU gốc với project HKII ở cả backend và frontend, sau đó là Task Sheet, tiến độ từ 09/10 đến nay và phân công hai thành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EDU gốc của Be Able là hệ thống lớn: 182 file frontend, khoảng 45.600 dòng; backend 70 Cloud Functions, khoảng 12.300 dòng, phục vụ khoảng 15 mảng tính năng. Project HKII tách ra 5 module cốt lõi: đăng nhập và phân quyền, lớp học, điểm danh và điểm số, học phí, AI Coach. Frontend chỉ còn khoảng 2.000 dòng, backend khoảng 1.650 dòng Python với 36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biệt lớn nhất là kiến trúc. EDU là serverless: trình duyệt đọc ghi thẳng vào Firebase Realtime Database, quyền viết trong file rules.json, còn logic nằm rải trong Cloud Functions chạy theo sự kiện. HKII là REST ba tầng: trình duyệt chỉ gọi API qua nginx, FastAPI kiểm token và quyền trong deps.py rồi mới đọc ghi PostgreSQL. Có người gọi thẳng API cũng bị chặn 401 hoặc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từng tiêu chí. Điểm mạnh của HKII là dữ liệu có ràng buộc, quyền kiểm ở một chỗ và có 15 test tự động chứng minh, triển khai được ở bất kỳ máy nào bằng Docker. Điểm HKII còn kém EDU là chưa có cập nhật thời gian thực; đây là hướng phát triển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dùng chung bộ công cụ: React 19, Vite 7, Tailwind 3, React Router 7. Khác ở ngôn ngữ thiết kế: EDU có 4 layout riêng cho 4 vai trò, màu thương hiệu navy, bộ theme đầy đủ và nhiều hiệu ứng như game, skin mùa lễ. HKII dùng một Layout chung, menu đổi theo vai trò, màu indigo, giao diện tối giản và mọi dữ liệu đi qua API có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Tiến độ theo lịch sử GitHub. Từ 09 đến 13/10 nhóm phân tích yêu cầu và thiết kế CSDL. Ngày 14/10 có bản chạy đủ 5 module, 15 test đạt. Ngày 17/10 bổ sung hướng dẫn chạy, slide và làm lại giao diện. Ngày 19/10 phân công và tạo 15 Issues. Từ 20 đến 23/10 hoàn thành tài liệu Review 1 và 2. Hiện đã xong 7 trên 13 đầu việc của Task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công chia đều theo năng lực. Em, Thái Phát, phụ trách phân tích yêu cầu, thiết kế CSDL và toàn bộ tài liệu thiết kế; từ tuần sau em nhận ba màn hình còn thiếu của module 1 đến 3 và phần test, sau đó là Review 3. Vĩ Quyền chuyển thiết kế thành code: backend, giao diện, Docker; tiếp theo là CI, test giới hạn AI Coach và hướng dẫn cài đặt. Cả hai cùng kiểm thử chéo và chuẩn bị bảo vệ.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mốc tiếp theo: Review 3 trước 13/11, nộp tài liệu thiết kế ngày 20/11, nộp đồ án hoàn thành ngày 02/12 và bảo vệ lúc 13:30 ngày 05/12. Nhóm mong nhận góp ý của Thầy về tài liệu Review 1 và Review 2 để chỉnh trước mốc 20/11. Em cảm ơn Thầy.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7380"/>
            <a:ext cx="10566400" cy="41478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7380"/>
            <a:ext cx="10566400" cy="41478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892B"/>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0892B"/>
                </a:solidFill>
                <a:latin typeface="Be Vietnam Pro" pitchFamily="34" charset="0"/>
                <a:ea typeface="Be Vietnam Pro" pitchFamily="34" charset="-122"/>
                <a:cs typeface="Be Vietnam Pro" pitchFamily="34" charset="-120"/>
              </a:rPr>
              <a:t>BÁO CÁO TIẾN ĐỘ LẦN 1 · EPROJECT HỌC KỲ II</a:t>
            </a:r>
            <a:endParaRPr lang="en-US" sz="1400" dirty="0"/>
          </a:p>
        </p:txBody>
      </p:sp>
      <p:sp>
        <p:nvSpPr>
          <p:cNvPr id="4" name="Text 2"/>
          <p:cNvSpPr/>
          <p:nvPr>
            <p:ph type="title"/>
          </p:nvPr>
        </p:nvSpPr>
        <p:spPr>
          <a:xfrm>
            <a:off x="812800" y="20345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1EA"/>
                </a:solidFill>
                <a:latin typeface="Be Vietnam Pro" pitchFamily="34" charset="0"/>
                <a:ea typeface="Be Vietnam Pro" pitchFamily="34" charset="-122"/>
                <a:cs typeface="Be Vietnam Pro" pitchFamily="34" charset="-120"/>
              </a:rPr>
              <a:t>EduCenter</a:t>
            </a:r>
            <a:endParaRPr lang="en-US" sz="6000" dirty="0"/>
          </a:p>
          <a:p>
            <a:pPr algn="l" indent="0" marL="0">
              <a:lnSpc>
                <a:spcPts val="6300"/>
              </a:lnSpc>
              <a:buNone/>
            </a:pPr>
            <a:r>
              <a:rPr lang="en-US" sz="6000" b="1" i="0" dirty="0">
                <a:solidFill>
                  <a:srgbClr val="F4F1EA"/>
                </a:solidFill>
                <a:latin typeface="Be Vietnam Pro" pitchFamily="34" charset="0"/>
                <a:ea typeface="Be Vietnam Pro" pitchFamily="34" charset="-122"/>
                <a:cs typeface="Be Vietnam Pro" pitchFamily="34" charset="-120"/>
              </a:rPr>
              <a:t>Management System</a:t>
            </a:r>
            <a:endParaRPr lang="en-US" sz="6000" dirty="0"/>
          </a:p>
        </p:txBody>
      </p:sp>
      <p:sp>
        <p:nvSpPr>
          <p:cNvPr id="5" name="Text 3"/>
          <p:cNvSpPr/>
          <p:nvPr/>
        </p:nvSpPr>
        <p:spPr>
          <a:xfrm>
            <a:off x="812800" y="383794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E3"/>
                </a:solidFill>
                <a:latin typeface="Be Vietnam Pro" pitchFamily="34" charset="0"/>
                <a:ea typeface="Be Vietnam Pro" pitchFamily="34" charset="-122"/>
                <a:cs typeface="Be Vietnam Pro" pitchFamily="34" charset="-120"/>
              </a:rPr>
              <a:t>Viết lại hệ thống quản lý trung tâm: FastAPI, PostgreSQL, Docker và AI Coach</a:t>
            </a:r>
            <a:endParaRPr lang="en-US" sz="2000" dirty="0"/>
          </a:p>
        </p:txBody>
      </p:sp>
      <p:sp>
        <p:nvSpPr>
          <p:cNvPr id="6" name="Text 4"/>
          <p:cNvSpPr/>
          <p:nvPr/>
        </p:nvSpPr>
        <p:spPr>
          <a:xfrm>
            <a:off x="812800" y="5496560"/>
            <a:ext cx="240404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B5"/>
                </a:solidFill>
                <a:latin typeface="Be Vietnam Pro" pitchFamily="34" charset="0"/>
                <a:ea typeface="Be Vietnam Pro" pitchFamily="34" charset="-122"/>
                <a:cs typeface="Be Vietnam Pro" pitchFamily="34" charset="-120"/>
              </a:rPr>
              <a:t>NHÓM 3 · LỚP T3.2511.M0</a:t>
            </a:r>
            <a:endParaRPr lang="en-US" sz="1200" dirty="0"/>
          </a:p>
        </p:txBody>
      </p:sp>
      <p:sp>
        <p:nvSpPr>
          <p:cNvPr id="7" name="Text 5"/>
          <p:cNvSpPr/>
          <p:nvPr/>
        </p:nvSpPr>
        <p:spPr>
          <a:xfrm>
            <a:off x="812800" y="5760720"/>
            <a:ext cx="280082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Be Vietnam Pro" pitchFamily="34" charset="0"/>
                <a:ea typeface="Be Vietnam Pro" pitchFamily="34" charset="-122"/>
                <a:cs typeface="Be Vietnam Pro" pitchFamily="34" charset="-120"/>
              </a:rPr>
              <a:t>Thái Phát · La Vĩ Quyền</a:t>
            </a:r>
            <a:endParaRPr lang="en-US" sz="1600" dirty="0"/>
          </a:p>
        </p:txBody>
      </p:sp>
      <p:sp>
        <p:nvSpPr>
          <p:cNvPr id="8" name="Text 6"/>
          <p:cNvSpPr/>
          <p:nvPr/>
        </p:nvSpPr>
        <p:spPr>
          <a:xfrm>
            <a:off x="3756422" y="5496560"/>
            <a:ext cx="255412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B5"/>
                </a:solidFill>
                <a:latin typeface="Be Vietnam Pro" pitchFamily="34" charset="0"/>
                <a:ea typeface="Be Vietnam Pro" pitchFamily="34" charset="-122"/>
                <a:cs typeface="Be Vietnam Pro" pitchFamily="34" charset="-120"/>
              </a:rPr>
              <a:t>GIẢNG VIÊN HƯỚNG DẪN</a:t>
            </a:r>
            <a:endParaRPr lang="en-US" sz="1200" dirty="0"/>
          </a:p>
        </p:txBody>
      </p:sp>
      <p:sp>
        <p:nvSpPr>
          <p:cNvPr id="9" name="Text 7"/>
          <p:cNvSpPr/>
          <p:nvPr/>
        </p:nvSpPr>
        <p:spPr>
          <a:xfrm>
            <a:off x="3756422" y="5760720"/>
            <a:ext cx="219229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Be Vietnam Pro" pitchFamily="34" charset="0"/>
                <a:ea typeface="Be Vietnam Pro" pitchFamily="34" charset="-122"/>
                <a:cs typeface="Be Vietnam Pro" pitchFamily="34" charset="-120"/>
              </a:rPr>
              <a:t>Thầy Trương Trung</a:t>
            </a:r>
            <a:endParaRPr lang="en-US" sz="1600" dirty="0"/>
          </a:p>
        </p:txBody>
      </p:sp>
      <p:sp>
        <p:nvSpPr>
          <p:cNvPr id="10" name="Text 8"/>
          <p:cNvSpPr/>
          <p:nvPr/>
        </p:nvSpPr>
        <p:spPr>
          <a:xfrm>
            <a:off x="6494463" y="5496560"/>
            <a:ext cx="160010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B5"/>
                </a:solidFill>
                <a:latin typeface="Be Vietnam Pro" pitchFamily="34" charset="0"/>
                <a:ea typeface="Be Vietnam Pro" pitchFamily="34" charset="-122"/>
                <a:cs typeface="Be Vietnam Pro" pitchFamily="34" charset="-120"/>
              </a:rPr>
              <a:t>NGÀY BÁO CÁO</a:t>
            </a:r>
            <a:endParaRPr lang="en-US" sz="1200" dirty="0"/>
          </a:p>
        </p:txBody>
      </p:sp>
      <p:sp>
        <p:nvSpPr>
          <p:cNvPr id="11" name="Text 9"/>
          <p:cNvSpPr/>
          <p:nvPr/>
        </p:nvSpPr>
        <p:spPr>
          <a:xfrm>
            <a:off x="6494463" y="5760720"/>
            <a:ext cx="138422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Be Vietnam Pro" pitchFamily="34" charset="0"/>
                <a:ea typeface="Be Vietnam Pro" pitchFamily="34" charset="-122"/>
                <a:cs typeface="Be Vietnam Pro" pitchFamily="34" charset="-120"/>
              </a:rPr>
              <a:t>23/10/2026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1 · TỔNG QUAN</a:t>
            </a:r>
            <a:endParaRPr lang="en-US" sz="1300" dirty="0"/>
          </a:p>
        </p:txBody>
      </p:sp>
      <p:sp>
        <p:nvSpPr>
          <p:cNvPr id="3" name="Text 1"/>
          <p:cNvSpPr/>
          <p:nvPr>
            <p:ph type="title"/>
          </p:nvPr>
        </p:nvSpPr>
        <p:spPr>
          <a:xfrm>
            <a:off x="812800" y="114554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Be Vietnam Pro" pitchFamily="34" charset="0"/>
                <a:ea typeface="Be Vietnam Pro" pitchFamily="34" charset="-122"/>
                <a:cs typeface="Be Vietnam Pro" pitchFamily="34" charset="-120"/>
              </a:rPr>
              <a:t>HKII tách gọn 5 module từ app EDU</a:t>
            </a:r>
            <a:endParaRPr lang="en-US" sz="3600" dirty="0"/>
          </a:p>
        </p:txBody>
      </p:sp>
      <p:sp>
        <p:nvSpPr>
          <p:cNvPr id="4" name="Shape 2"/>
          <p:cNvSpPr/>
          <p:nvPr/>
        </p:nvSpPr>
        <p:spPr>
          <a:xfrm>
            <a:off x="815975" y="2007235"/>
            <a:ext cx="3380264" cy="2381250"/>
          </a:xfrm>
          <a:prstGeom prst="roundRect">
            <a:avLst>
              <a:gd name="adj" fmla="val 4133"/>
            </a:avLst>
          </a:prstGeom>
          <a:solidFill>
            <a:srgbClr val="FFFFFF"/>
          </a:solidFill>
          <a:ln w="6350">
            <a:solidFill>
              <a:srgbClr val="E2DED3"/>
            </a:solidFill>
            <a:prstDash val="solid"/>
          </a:ln>
        </p:spPr>
      </p:sp>
      <p:sp>
        <p:nvSpPr>
          <p:cNvPr id="5" name="Text 3"/>
          <p:cNvSpPr/>
          <p:nvPr/>
        </p:nvSpPr>
        <p:spPr>
          <a:xfrm>
            <a:off x="1071880" y="226314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5568"/>
                </a:solidFill>
                <a:latin typeface="Be Vietnam Pro" pitchFamily="34" charset="0"/>
                <a:ea typeface="Be Vietnam Pro" pitchFamily="34" charset="-122"/>
                <a:cs typeface="Be Vietnam Pro" pitchFamily="34" charset="-120"/>
              </a:rPr>
              <a:t>Frontend</a:t>
            </a:r>
            <a:endParaRPr lang="en-US" sz="1600" dirty="0"/>
          </a:p>
        </p:txBody>
      </p:sp>
      <p:sp>
        <p:nvSpPr>
          <p:cNvPr id="6" name="Text 4"/>
          <p:cNvSpPr/>
          <p:nvPr/>
        </p:nvSpPr>
        <p:spPr>
          <a:xfrm>
            <a:off x="1071880" y="2633980"/>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3366"/>
                </a:solidFill>
                <a:latin typeface="Be Vietnam Pro" pitchFamily="34" charset="0"/>
                <a:ea typeface="Be Vietnam Pro" pitchFamily="34" charset="-122"/>
                <a:cs typeface="Be Vietnam Pro" pitchFamily="34" charset="-120"/>
              </a:rPr>
              <a:t>EDU · 182 file</a:t>
            </a:r>
            <a:endParaRPr lang="en-US" sz="1200" dirty="0"/>
          </a:p>
        </p:txBody>
      </p:sp>
      <p:sp>
        <p:nvSpPr>
          <p:cNvPr id="7" name="Text 5"/>
          <p:cNvSpPr/>
          <p:nvPr/>
        </p:nvSpPr>
        <p:spPr>
          <a:xfrm>
            <a:off x="1071880" y="2872740"/>
            <a:ext cx="2954507"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03366"/>
                </a:solidFill>
                <a:latin typeface="Be Vietnam Pro" pitchFamily="34" charset="0"/>
                <a:ea typeface="Be Vietnam Pro" pitchFamily="34" charset="-122"/>
                <a:cs typeface="Be Vietnam Pro" pitchFamily="34" charset="-120"/>
              </a:rPr>
              <a:t>45.600 dòng</a:t>
            </a:r>
            <a:endParaRPr lang="en-US" sz="3200" dirty="0"/>
          </a:p>
        </p:txBody>
      </p:sp>
      <p:sp>
        <p:nvSpPr>
          <p:cNvPr id="8" name="Text 6"/>
          <p:cNvSpPr/>
          <p:nvPr/>
        </p:nvSpPr>
        <p:spPr>
          <a:xfrm>
            <a:off x="1071880" y="3446780"/>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Be Vietnam Pro" pitchFamily="34" charset="0"/>
                <a:ea typeface="Be Vietnam Pro" pitchFamily="34" charset="-122"/>
                <a:cs typeface="Be Vietnam Pro" pitchFamily="34" charset="-120"/>
              </a:rPr>
              <a:t>HKII · 13 file</a:t>
            </a:r>
            <a:endParaRPr lang="en-US" sz="1200" dirty="0"/>
          </a:p>
        </p:txBody>
      </p:sp>
      <p:sp>
        <p:nvSpPr>
          <p:cNvPr id="9" name="Text 7"/>
          <p:cNvSpPr/>
          <p:nvPr/>
        </p:nvSpPr>
        <p:spPr>
          <a:xfrm>
            <a:off x="1071880" y="3685540"/>
            <a:ext cx="2954507"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Be Vietnam Pro" pitchFamily="34" charset="0"/>
                <a:ea typeface="Be Vietnam Pro" pitchFamily="34" charset="-122"/>
                <a:cs typeface="Be Vietnam Pro" pitchFamily="34" charset="-120"/>
              </a:rPr>
              <a:t>2.000 dòng</a:t>
            </a:r>
            <a:endParaRPr lang="en-US" sz="3200" dirty="0"/>
          </a:p>
        </p:txBody>
      </p:sp>
      <p:sp>
        <p:nvSpPr>
          <p:cNvPr id="10" name="Shape 8"/>
          <p:cNvSpPr/>
          <p:nvPr/>
        </p:nvSpPr>
        <p:spPr>
          <a:xfrm>
            <a:off x="4405789" y="2007235"/>
            <a:ext cx="3380343" cy="2381250"/>
          </a:xfrm>
          <a:prstGeom prst="roundRect">
            <a:avLst>
              <a:gd name="adj" fmla="val 4133"/>
            </a:avLst>
          </a:prstGeom>
          <a:solidFill>
            <a:srgbClr val="FFFFFF"/>
          </a:solidFill>
          <a:ln w="6350">
            <a:solidFill>
              <a:srgbClr val="E2DED3"/>
            </a:solidFill>
            <a:prstDash val="solid"/>
          </a:ln>
        </p:spPr>
      </p:sp>
      <p:sp>
        <p:nvSpPr>
          <p:cNvPr id="11" name="Text 9"/>
          <p:cNvSpPr/>
          <p:nvPr/>
        </p:nvSpPr>
        <p:spPr>
          <a:xfrm>
            <a:off x="4661694" y="226314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5568"/>
                </a:solidFill>
                <a:latin typeface="Be Vietnam Pro" pitchFamily="34" charset="0"/>
                <a:ea typeface="Be Vietnam Pro" pitchFamily="34" charset="-122"/>
                <a:cs typeface="Be Vietnam Pro" pitchFamily="34" charset="-120"/>
              </a:rPr>
              <a:t>Backend</a:t>
            </a:r>
            <a:endParaRPr lang="en-US" sz="1600" dirty="0"/>
          </a:p>
        </p:txBody>
      </p:sp>
      <p:sp>
        <p:nvSpPr>
          <p:cNvPr id="12" name="Text 10"/>
          <p:cNvSpPr/>
          <p:nvPr/>
        </p:nvSpPr>
        <p:spPr>
          <a:xfrm>
            <a:off x="4661694" y="26339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3366"/>
                </a:solidFill>
                <a:latin typeface="Be Vietnam Pro" pitchFamily="34" charset="0"/>
                <a:ea typeface="Be Vietnam Pro" pitchFamily="34" charset="-122"/>
                <a:cs typeface="Be Vietnam Pro" pitchFamily="34" charset="-120"/>
              </a:rPr>
              <a:t>EDU · 70 Cloud Functions</a:t>
            </a:r>
            <a:endParaRPr lang="en-US" sz="1200" dirty="0"/>
          </a:p>
        </p:txBody>
      </p:sp>
      <p:sp>
        <p:nvSpPr>
          <p:cNvPr id="13" name="Text 11"/>
          <p:cNvSpPr/>
          <p:nvPr/>
        </p:nvSpPr>
        <p:spPr>
          <a:xfrm>
            <a:off x="4661694" y="2872740"/>
            <a:ext cx="29545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03366"/>
                </a:solidFill>
                <a:latin typeface="Be Vietnam Pro" pitchFamily="34" charset="0"/>
                <a:ea typeface="Be Vietnam Pro" pitchFamily="34" charset="-122"/>
                <a:cs typeface="Be Vietnam Pro" pitchFamily="34" charset="-120"/>
              </a:rPr>
              <a:t>12.300 dòng</a:t>
            </a:r>
            <a:endParaRPr lang="en-US" sz="3200" dirty="0"/>
          </a:p>
        </p:txBody>
      </p:sp>
      <p:sp>
        <p:nvSpPr>
          <p:cNvPr id="14" name="Text 12"/>
          <p:cNvSpPr/>
          <p:nvPr/>
        </p:nvSpPr>
        <p:spPr>
          <a:xfrm>
            <a:off x="4661694" y="34467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Be Vietnam Pro" pitchFamily="34" charset="0"/>
                <a:ea typeface="Be Vietnam Pro" pitchFamily="34" charset="-122"/>
                <a:cs typeface="Be Vietnam Pro" pitchFamily="34" charset="-120"/>
              </a:rPr>
              <a:t>HKII · 36 API</a:t>
            </a:r>
            <a:endParaRPr lang="en-US" sz="1200" dirty="0"/>
          </a:p>
        </p:txBody>
      </p:sp>
      <p:sp>
        <p:nvSpPr>
          <p:cNvPr id="15" name="Text 13"/>
          <p:cNvSpPr/>
          <p:nvPr/>
        </p:nvSpPr>
        <p:spPr>
          <a:xfrm>
            <a:off x="4661694" y="3685540"/>
            <a:ext cx="29545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Be Vietnam Pro" pitchFamily="34" charset="0"/>
                <a:ea typeface="Be Vietnam Pro" pitchFamily="34" charset="-122"/>
                <a:cs typeface="Be Vietnam Pro" pitchFamily="34" charset="-120"/>
              </a:rPr>
              <a:t>1.650 dòng</a:t>
            </a:r>
            <a:endParaRPr lang="en-US" sz="3200" dirty="0"/>
          </a:p>
        </p:txBody>
      </p:sp>
      <p:sp>
        <p:nvSpPr>
          <p:cNvPr id="16" name="Shape 14"/>
          <p:cNvSpPr/>
          <p:nvPr/>
        </p:nvSpPr>
        <p:spPr>
          <a:xfrm>
            <a:off x="7995682" y="2007235"/>
            <a:ext cx="3380343" cy="2381250"/>
          </a:xfrm>
          <a:prstGeom prst="roundRect">
            <a:avLst>
              <a:gd name="adj" fmla="val 4133"/>
            </a:avLst>
          </a:prstGeom>
          <a:solidFill>
            <a:srgbClr val="FFFFFF"/>
          </a:solidFill>
          <a:ln w="6350">
            <a:solidFill>
              <a:srgbClr val="E2DED3"/>
            </a:solidFill>
            <a:prstDash val="solid"/>
          </a:ln>
        </p:spPr>
      </p:sp>
      <p:sp>
        <p:nvSpPr>
          <p:cNvPr id="17" name="Text 15"/>
          <p:cNvSpPr/>
          <p:nvPr/>
        </p:nvSpPr>
        <p:spPr>
          <a:xfrm>
            <a:off x="8251587" y="226314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5568"/>
                </a:solidFill>
                <a:latin typeface="Be Vietnam Pro" pitchFamily="34" charset="0"/>
                <a:ea typeface="Be Vietnam Pro" pitchFamily="34" charset="-122"/>
                <a:cs typeface="Be Vietnam Pro" pitchFamily="34" charset="-120"/>
              </a:rPr>
              <a:t>Phạm vi</a:t>
            </a:r>
            <a:endParaRPr lang="en-US" sz="1600" dirty="0"/>
          </a:p>
        </p:txBody>
      </p:sp>
      <p:sp>
        <p:nvSpPr>
          <p:cNvPr id="18" name="Text 16"/>
          <p:cNvSpPr/>
          <p:nvPr/>
        </p:nvSpPr>
        <p:spPr>
          <a:xfrm>
            <a:off x="8251587" y="26339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3366"/>
                </a:solidFill>
                <a:latin typeface="Be Vietnam Pro" pitchFamily="34" charset="0"/>
                <a:ea typeface="Be Vietnam Pro" pitchFamily="34" charset="-122"/>
                <a:cs typeface="Be Vietnam Pro" pitchFamily="34" charset="-120"/>
              </a:rPr>
              <a:t>EDU · học tập, game, chat, Pulse...</a:t>
            </a:r>
            <a:endParaRPr lang="en-US" sz="1200" dirty="0"/>
          </a:p>
        </p:txBody>
      </p:sp>
      <p:sp>
        <p:nvSpPr>
          <p:cNvPr id="19" name="Text 17"/>
          <p:cNvSpPr/>
          <p:nvPr/>
        </p:nvSpPr>
        <p:spPr>
          <a:xfrm>
            <a:off x="8251587" y="2872740"/>
            <a:ext cx="29545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03366"/>
                </a:solidFill>
                <a:latin typeface="Be Vietnam Pro" pitchFamily="34" charset="0"/>
                <a:ea typeface="Be Vietnam Pro" pitchFamily="34" charset="-122"/>
                <a:cs typeface="Be Vietnam Pro" pitchFamily="34" charset="-120"/>
              </a:rPr>
              <a:t>~15 mảng</a:t>
            </a:r>
            <a:endParaRPr lang="en-US" sz="3200" dirty="0"/>
          </a:p>
        </p:txBody>
      </p:sp>
      <p:sp>
        <p:nvSpPr>
          <p:cNvPr id="20" name="Text 18"/>
          <p:cNvSpPr/>
          <p:nvPr/>
        </p:nvSpPr>
        <p:spPr>
          <a:xfrm>
            <a:off x="8251587" y="34467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Be Vietnam Pro" pitchFamily="34" charset="0"/>
                <a:ea typeface="Be Vietnam Pro" pitchFamily="34" charset="-122"/>
                <a:cs typeface="Be Vietnam Pro" pitchFamily="34" charset="-120"/>
              </a:rPr>
              <a:t>HKII · nghiệp vụ cốt lõi</a:t>
            </a:r>
            <a:endParaRPr lang="en-US" sz="1200" dirty="0"/>
          </a:p>
        </p:txBody>
      </p:sp>
      <p:sp>
        <p:nvSpPr>
          <p:cNvPr id="21" name="Text 19"/>
          <p:cNvSpPr/>
          <p:nvPr/>
        </p:nvSpPr>
        <p:spPr>
          <a:xfrm>
            <a:off x="8251587" y="3685540"/>
            <a:ext cx="29545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Be Vietnam Pro" pitchFamily="34" charset="0"/>
                <a:ea typeface="Be Vietnam Pro" pitchFamily="34" charset="-122"/>
                <a:cs typeface="Be Vietnam Pro" pitchFamily="34" charset="-120"/>
              </a:rPr>
              <a:t>5 module</a:t>
            </a:r>
            <a:endParaRPr lang="en-US" sz="3200" dirty="0"/>
          </a:p>
        </p:txBody>
      </p:sp>
      <p:sp>
        <p:nvSpPr>
          <p:cNvPr id="22" name="Text 20"/>
          <p:cNvSpPr/>
          <p:nvPr/>
        </p:nvSpPr>
        <p:spPr>
          <a:xfrm>
            <a:off x="812800" y="4747260"/>
            <a:ext cx="98107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Be Vietnam Pro" pitchFamily="34" charset="0"/>
                <a:ea typeface="Be Vietnam Pro" pitchFamily="34" charset="-122"/>
                <a:cs typeface="Be Vietnam Pro" pitchFamily="34" charset="-120"/>
              </a:rPr>
              <a:t>Giữ nghiệp vụ cốt lõi: </a:t>
            </a:r>
            <a:r>
              <a:rPr lang="en-US" sz="1600" b="1" dirty="0">
                <a:solidFill>
                  <a:srgbClr val="14213D"/>
                </a:solidFill>
                <a:latin typeface="Be Vietnam Pro" pitchFamily="34" charset="0"/>
                <a:ea typeface="Be Vietnam Pro" pitchFamily="34" charset="-122"/>
                <a:cs typeface="Be Vietnam Pro" pitchFamily="34" charset="-120"/>
              </a:rPr>
              <a:t>đăng nhập, lớp học, điểm danh và điểm số, học phí, AI Coach.</a:t>
            </a:r>
            <a:r>
              <a:rPr lang="en-US" sz="1600" dirty="0">
                <a:solidFill>
                  <a:srgbClr val="4A5568"/>
                </a:solidFill>
                <a:latin typeface="Be Vietnam Pro" pitchFamily="34" charset="0"/>
                <a:ea typeface="Be Vietnam Pro" pitchFamily="34" charset="-122"/>
                <a:cs typeface="Be Vietnam Pro" pitchFamily="34" charset="-120"/>
              </a:rPr>
              <a:t> Backend viết lại theo kiến trúc khác hẳn; frontend giữ bộ công cụ, đổi ngôn ngữ thiết kế.</a:t>
            </a:r>
            <a:endParaRPr lang="en-US" sz="1600" dirty="0"/>
          </a:p>
        </p:txBody>
      </p:sp>
      <p:sp>
        <p:nvSpPr>
          <p:cNvPr id="23" name="Text 21"/>
          <p:cNvSpPr/>
          <p:nvPr/>
        </p:nvSpPr>
        <p:spPr>
          <a:xfrm>
            <a:off x="812800" y="6238241"/>
            <a:ext cx="51828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578"/>
                </a:solidFill>
                <a:latin typeface="Be Vietnam Pro" pitchFamily="34" charset="0"/>
                <a:ea typeface="Be Vietnam Pro" pitchFamily="34" charset="-122"/>
                <a:cs typeface="Be Vietnam Pro" pitchFamily="34" charset="-120"/>
              </a:rPr>
              <a:t>Số dòng code đếm trên mã nguồn hai project, 23/10/2026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2 · BACKEND</a:t>
            </a:r>
            <a:endParaRPr lang="en-US" sz="1300" dirty="0"/>
          </a:p>
        </p:txBody>
      </p:sp>
      <p:sp>
        <p:nvSpPr>
          <p:cNvPr id="3" name="Text 1"/>
          <p:cNvSpPr/>
          <p:nvPr>
            <p:ph type="title"/>
          </p:nvPr>
        </p:nvSpPr>
        <p:spPr>
          <a:xfrm>
            <a:off x="812800" y="114554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Be Vietnam Pro" pitchFamily="34" charset="0"/>
                <a:ea typeface="Be Vietnam Pro" pitchFamily="34" charset="-122"/>
                <a:cs typeface="Be Vietnam Pro" pitchFamily="34" charset="-120"/>
              </a:rPr>
              <a:t>Khác về bản chất: serverless sang REST 3 tầng</a:t>
            </a:r>
            <a:endParaRPr lang="en-US" sz="3600" dirty="0"/>
          </a:p>
        </p:txBody>
      </p:sp>
      <p:sp>
        <p:nvSpPr>
          <p:cNvPr id="4" name="Text 2"/>
          <p:cNvSpPr/>
          <p:nvPr/>
        </p:nvSpPr>
        <p:spPr>
          <a:xfrm>
            <a:off x="812800" y="24561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3366"/>
                </a:solidFill>
                <a:latin typeface="Be Vietnam Pro" pitchFamily="34" charset="0"/>
                <a:ea typeface="Be Vietnam Pro" pitchFamily="34" charset="-122"/>
                <a:cs typeface="Be Vietnam Pro" pitchFamily="34" charset="-120"/>
              </a:rPr>
              <a:t>EDU: client đọc ghi thẳng vào DB, quyền nằm trong file luật</a:t>
            </a:r>
            <a:endParaRPr lang="en-US" sz="1400" dirty="0"/>
          </a:p>
        </p:txBody>
      </p:sp>
      <p:sp>
        <p:nvSpPr>
          <p:cNvPr id="5" name="Text 3"/>
          <p:cNvSpPr/>
          <p:nvPr/>
        </p:nvSpPr>
        <p:spPr>
          <a:xfrm>
            <a:off x="819150" y="2813050"/>
            <a:ext cx="1892300" cy="810260"/>
          </a:xfrm>
          <a:prstGeom prst="roundRect">
            <a:avLst>
              <a:gd name="adj" fmla="val 8621"/>
            </a:avLst>
          </a:prstGeom>
          <a:solidFill>
            <a:srgbClr val="FFFFFF"/>
          </a:solidFill>
          <a:ln w="12700">
            <a:solidFill>
              <a:srgbClr val="003366"/>
            </a:solidFill>
            <a:prstDash val="solid"/>
          </a:ln>
        </p:spPr>
        <p:txBody>
          <a:bodyPr wrap="square" lIns="161152" tIns="135752" rIns="161152" bIns="110352" rtlCol="0" anchor="t">
            <a:normAutofit/>
          </a:bodyPr>
          <a:lstStyle/>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Trình duyệt</a:t>
            </a:r>
            <a:endParaRPr lang="en-US" sz="1400" dirty="0"/>
          </a:p>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React + SDK</a:t>
            </a:r>
            <a:endParaRPr lang="en-US" sz="1400" dirty="0"/>
          </a:p>
        </p:txBody>
      </p:sp>
      <p:pic>
        <p:nvPicPr>
          <p:cNvPr id="6" name="Image 0" descr="arrow-right">    </p:cNvPr>
          <p:cNvPicPr>
            <a:picLocks noChangeAspect="1"/>
          </p:cNvPicPr>
          <p:nvPr/>
        </p:nvPicPr>
        <p:blipFill>
          <a:blip r:embed="rId1"/>
          <a:srcRect l="0" r="0" t="0" b="0"/>
          <a:stretch/>
        </p:blipFill>
        <p:spPr>
          <a:xfrm>
            <a:off x="2870200" y="3103880"/>
            <a:ext cx="457200" cy="228600"/>
          </a:xfrm>
          <a:prstGeom prst="rect">
            <a:avLst/>
          </a:prstGeom>
        </p:spPr>
      </p:pic>
      <p:sp>
        <p:nvSpPr>
          <p:cNvPr id="7" name="Text 4"/>
          <p:cNvSpPr/>
          <p:nvPr/>
        </p:nvSpPr>
        <p:spPr>
          <a:xfrm>
            <a:off x="3479800" y="2816861"/>
            <a:ext cx="2667000" cy="802640"/>
          </a:xfrm>
          <a:prstGeom prst="roundRect">
            <a:avLst>
              <a:gd name="adj" fmla="val 9494"/>
            </a:avLst>
          </a:prstGeom>
          <a:solidFill>
            <a:srgbClr val="003366"/>
          </a:solidFill>
          <a:ln/>
        </p:spPr>
        <p:txBody>
          <a:bodyPr wrap="square" lIns="146973" tIns="130082" rIns="146973" bIns="104682" rtlCol="0" anchor="t">
            <a:normAutofit/>
          </a:bodyPr>
          <a:lstStyle/>
          <a:p>
            <a:pPr algn="ctr" indent="0" marL="0">
              <a:lnSpc>
                <a:spcPts val="1960"/>
              </a:lnSpc>
              <a:buNone/>
            </a:pPr>
            <a:r>
              <a:rPr lang="en-US" sz="1400" b="1" dirty="0">
                <a:solidFill>
                  <a:srgbClr val="F4F1EA"/>
                </a:solidFill>
                <a:latin typeface="Be Vietnam Pro" pitchFamily="34" charset="0"/>
                <a:ea typeface="Be Vietnam Pro" pitchFamily="34" charset="-122"/>
                <a:cs typeface="Be Vietnam Pro" pitchFamily="34" charset="-120"/>
              </a:rPr>
              <a:t>Firebase RTDB</a:t>
            </a:r>
            <a:endParaRPr lang="en-US" sz="1400" dirty="0"/>
          </a:p>
          <a:p>
            <a:pPr algn="ctr" indent="0" marL="0">
              <a:lnSpc>
                <a:spcPts val="1960"/>
              </a:lnSpc>
              <a:buNone/>
            </a:pPr>
            <a:r>
              <a:rPr lang="en-US" sz="1400" b="1" dirty="0">
                <a:solidFill>
                  <a:srgbClr val="F4F1EA"/>
                </a:solidFill>
                <a:latin typeface="Be Vietnam Pro" pitchFamily="34" charset="0"/>
                <a:ea typeface="Be Vietnam Pro" pitchFamily="34" charset="-122"/>
                <a:cs typeface="Be Vietnam Pro" pitchFamily="34" charset="-120"/>
              </a:rPr>
              <a:t>cây JSON + rules.json</a:t>
            </a:r>
            <a:endParaRPr lang="en-US" sz="1400" dirty="0"/>
          </a:p>
        </p:txBody>
      </p:sp>
      <p:pic>
        <p:nvPicPr>
          <p:cNvPr id="8" name="Image 1" descr="arrow-left">    </p:cNvPr>
          <p:cNvPicPr>
            <a:picLocks noChangeAspect="1"/>
          </p:cNvPicPr>
          <p:nvPr/>
        </p:nvPicPr>
        <p:blipFill>
          <a:blip r:embed="rId2"/>
          <a:srcRect l="0" r="0" t="0" b="0"/>
          <a:stretch/>
        </p:blipFill>
        <p:spPr>
          <a:xfrm>
            <a:off x="6299200" y="3103880"/>
            <a:ext cx="457200" cy="228600"/>
          </a:xfrm>
          <a:prstGeom prst="rect">
            <a:avLst/>
          </a:prstGeom>
        </p:spPr>
      </p:pic>
      <p:sp>
        <p:nvSpPr>
          <p:cNvPr id="9" name="Text 5"/>
          <p:cNvSpPr/>
          <p:nvPr/>
        </p:nvSpPr>
        <p:spPr>
          <a:xfrm>
            <a:off x="6915150" y="2813050"/>
            <a:ext cx="2781300" cy="810260"/>
          </a:xfrm>
          <a:prstGeom prst="roundRect">
            <a:avLst>
              <a:gd name="adj" fmla="val 8621"/>
            </a:avLst>
          </a:prstGeom>
          <a:solidFill>
            <a:srgbClr val="FFFFFF"/>
          </a:solidFill>
          <a:ln w="12700">
            <a:solidFill>
              <a:srgbClr val="003366"/>
            </a:solidFill>
            <a:prstDash val="solid"/>
          </a:ln>
        </p:spPr>
        <p:txBody>
          <a:bodyPr wrap="square" lIns="151042" tIns="135752" rIns="151042" bIns="110352" rtlCol="0" anchor="t">
            <a:normAutofit/>
          </a:bodyPr>
          <a:lstStyle/>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Cloud Functions</a:t>
            </a:r>
            <a:endParaRPr lang="en-US" sz="1400" dirty="0"/>
          </a:p>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chạy theo sự kiện</a:t>
            </a:r>
            <a:endParaRPr lang="en-US" sz="1400" dirty="0"/>
          </a:p>
        </p:txBody>
      </p:sp>
      <p:sp>
        <p:nvSpPr>
          <p:cNvPr id="10" name="Text 6"/>
          <p:cNvSpPr/>
          <p:nvPr/>
        </p:nvSpPr>
        <p:spPr>
          <a:xfrm>
            <a:off x="812800" y="388366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F46E5"/>
                </a:solidFill>
                <a:latin typeface="Be Vietnam Pro" pitchFamily="34" charset="0"/>
                <a:ea typeface="Be Vietnam Pro" pitchFamily="34" charset="-122"/>
                <a:cs typeface="Be Vietnam Pro" pitchFamily="34" charset="-120"/>
              </a:rPr>
              <a:t>HKII: client chỉ gọi API, server kiểm quyền rồi mới chạm DB</a:t>
            </a:r>
            <a:endParaRPr lang="en-US" sz="1400" dirty="0"/>
          </a:p>
        </p:txBody>
      </p:sp>
      <p:sp>
        <p:nvSpPr>
          <p:cNvPr id="11" name="Text 7"/>
          <p:cNvSpPr/>
          <p:nvPr/>
        </p:nvSpPr>
        <p:spPr>
          <a:xfrm>
            <a:off x="819150" y="4240530"/>
            <a:ext cx="1892300" cy="810260"/>
          </a:xfrm>
          <a:prstGeom prst="roundRect">
            <a:avLst>
              <a:gd name="adj" fmla="val 8621"/>
            </a:avLst>
          </a:prstGeom>
          <a:solidFill>
            <a:srgbClr val="FFFFFF"/>
          </a:solidFill>
          <a:ln w="12700">
            <a:solidFill>
              <a:srgbClr val="4F46E5"/>
            </a:solidFill>
            <a:prstDash val="solid"/>
          </a:ln>
        </p:spPr>
        <p:txBody>
          <a:bodyPr wrap="square" lIns="161152" tIns="135752" rIns="161152" bIns="110352" rtlCol="0" anchor="t">
            <a:normAutofit/>
          </a:bodyPr>
          <a:lstStyle/>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Trình duyệt</a:t>
            </a:r>
            <a:endParaRPr lang="en-US" sz="1400" dirty="0"/>
          </a:p>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React</a:t>
            </a:r>
            <a:endParaRPr lang="en-US" sz="1400" dirty="0"/>
          </a:p>
        </p:txBody>
      </p:sp>
      <p:pic>
        <p:nvPicPr>
          <p:cNvPr id="12" name="Image 2" descr="arrow-right">    </p:cNvPr>
          <p:cNvPicPr>
            <a:picLocks noChangeAspect="1"/>
          </p:cNvPicPr>
          <p:nvPr/>
        </p:nvPicPr>
        <p:blipFill>
          <a:blip r:embed="rId3"/>
          <a:srcRect l="0" r="0" t="0" b="0"/>
          <a:stretch/>
        </p:blipFill>
        <p:spPr>
          <a:xfrm>
            <a:off x="2870200" y="4531361"/>
            <a:ext cx="457200" cy="228600"/>
          </a:xfrm>
          <a:prstGeom prst="rect">
            <a:avLst/>
          </a:prstGeom>
        </p:spPr>
      </p:pic>
      <p:sp>
        <p:nvSpPr>
          <p:cNvPr id="13" name="Text 8"/>
          <p:cNvSpPr/>
          <p:nvPr/>
        </p:nvSpPr>
        <p:spPr>
          <a:xfrm>
            <a:off x="3486150" y="4240530"/>
            <a:ext cx="1511300" cy="810260"/>
          </a:xfrm>
          <a:prstGeom prst="roundRect">
            <a:avLst>
              <a:gd name="adj" fmla="val 8621"/>
            </a:avLst>
          </a:prstGeom>
          <a:solidFill>
            <a:srgbClr val="FFFFFF"/>
          </a:solidFill>
          <a:ln w="12700">
            <a:solidFill>
              <a:srgbClr val="4F46E5"/>
            </a:solidFill>
            <a:prstDash val="solid"/>
          </a:ln>
        </p:spPr>
        <p:txBody>
          <a:bodyPr wrap="square" lIns="161152" tIns="135752" rIns="161151" bIns="110352" rtlCol="0" anchor="t">
            <a:normAutofit/>
          </a:bodyPr>
          <a:lstStyle/>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nginx</a:t>
            </a:r>
            <a:endParaRPr lang="en-US" sz="1400" dirty="0"/>
          </a:p>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/api</a:t>
            </a:r>
            <a:endParaRPr lang="en-US" sz="1400" dirty="0"/>
          </a:p>
        </p:txBody>
      </p:sp>
      <p:pic>
        <p:nvPicPr>
          <p:cNvPr id="14" name="Image 3" descr="arrow-right">    </p:cNvPr>
          <p:cNvPicPr>
            <a:picLocks noChangeAspect="1"/>
          </p:cNvPicPr>
          <p:nvPr/>
        </p:nvPicPr>
        <p:blipFill>
          <a:blip r:embed="rId4"/>
          <a:srcRect l="0" r="0" t="0" b="0"/>
          <a:stretch/>
        </p:blipFill>
        <p:spPr>
          <a:xfrm>
            <a:off x="5156200" y="4531361"/>
            <a:ext cx="457200" cy="228600"/>
          </a:xfrm>
          <a:prstGeom prst="rect">
            <a:avLst/>
          </a:prstGeom>
        </p:spPr>
      </p:pic>
      <p:sp>
        <p:nvSpPr>
          <p:cNvPr id="15" name="Text 9"/>
          <p:cNvSpPr/>
          <p:nvPr/>
        </p:nvSpPr>
        <p:spPr>
          <a:xfrm>
            <a:off x="5765800" y="4244341"/>
            <a:ext cx="2286000" cy="802640"/>
          </a:xfrm>
          <a:prstGeom prst="roundRect">
            <a:avLst>
              <a:gd name="adj" fmla="val 9494"/>
            </a:avLst>
          </a:prstGeom>
          <a:solidFill>
            <a:srgbClr val="4F46E5"/>
          </a:solidFill>
          <a:ln/>
        </p:spPr>
        <p:txBody>
          <a:bodyPr wrap="square" lIns="152688" tIns="130082" rIns="152688" bIns="104682" rtlCol="0" anchor="t">
            <a:normAutofit/>
          </a:bodyPr>
          <a:lstStyle/>
          <a:p>
            <a:pPr algn="ctr" indent="0" marL="0">
              <a:lnSpc>
                <a:spcPts val="1960"/>
              </a:lnSpc>
              <a:buNone/>
            </a:pPr>
            <a:r>
              <a:rPr lang="en-US" sz="1400" b="1" dirty="0">
                <a:solidFill>
                  <a:srgbClr val="F4F1EA"/>
                </a:solidFill>
                <a:latin typeface="Be Vietnam Pro" pitchFamily="34" charset="0"/>
                <a:ea typeface="Be Vietnam Pro" pitchFamily="34" charset="-122"/>
                <a:cs typeface="Be Vietnam Pro" pitchFamily="34" charset="-120"/>
              </a:rPr>
              <a:t>FastAPI</a:t>
            </a:r>
            <a:endParaRPr lang="en-US" sz="1400" dirty="0"/>
          </a:p>
          <a:p>
            <a:pPr algn="ctr" indent="0" marL="0">
              <a:lnSpc>
                <a:spcPts val="1960"/>
              </a:lnSpc>
              <a:buNone/>
            </a:pPr>
            <a:r>
              <a:rPr lang="en-US" sz="1400" b="1" dirty="0">
                <a:solidFill>
                  <a:srgbClr val="F4F1EA"/>
                </a:solidFill>
                <a:latin typeface="Be Vietnam Pro" pitchFamily="34" charset="0"/>
                <a:ea typeface="Be Vietnam Pro" pitchFamily="34" charset="-122"/>
                <a:cs typeface="Be Vietnam Pro" pitchFamily="34" charset="-120"/>
              </a:rPr>
              <a:t>JWT + deps.py</a:t>
            </a:r>
            <a:endParaRPr lang="en-US" sz="1400" dirty="0"/>
          </a:p>
        </p:txBody>
      </p:sp>
      <p:pic>
        <p:nvPicPr>
          <p:cNvPr id="16" name="Image 4" descr="arrow-right">    </p:cNvPr>
          <p:cNvPicPr>
            <a:picLocks noChangeAspect="1"/>
          </p:cNvPicPr>
          <p:nvPr/>
        </p:nvPicPr>
        <p:blipFill>
          <a:blip r:embed="rId5"/>
          <a:srcRect l="0" r="0" t="0" b="0"/>
          <a:stretch/>
        </p:blipFill>
        <p:spPr>
          <a:xfrm>
            <a:off x="8204200" y="4531361"/>
            <a:ext cx="457200" cy="228600"/>
          </a:xfrm>
          <a:prstGeom prst="rect">
            <a:avLst/>
          </a:prstGeom>
        </p:spPr>
      </p:pic>
      <p:sp>
        <p:nvSpPr>
          <p:cNvPr id="17" name="Text 10"/>
          <p:cNvSpPr/>
          <p:nvPr/>
        </p:nvSpPr>
        <p:spPr>
          <a:xfrm>
            <a:off x="8820150" y="4240530"/>
            <a:ext cx="1638300" cy="810260"/>
          </a:xfrm>
          <a:prstGeom prst="roundRect">
            <a:avLst>
              <a:gd name="adj" fmla="val 8621"/>
            </a:avLst>
          </a:prstGeom>
          <a:solidFill>
            <a:srgbClr val="FFFFFF"/>
          </a:solidFill>
          <a:ln w="12700">
            <a:solidFill>
              <a:srgbClr val="4F46E5"/>
            </a:solidFill>
            <a:prstDash val="solid"/>
          </a:ln>
        </p:spPr>
        <p:txBody>
          <a:bodyPr wrap="square" lIns="161151" tIns="135752" rIns="161152" bIns="110352" rtlCol="0" anchor="t">
            <a:normAutofit/>
          </a:bodyPr>
          <a:lstStyle/>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PostgreSQL</a:t>
            </a:r>
            <a:endParaRPr lang="en-US" sz="1400" dirty="0"/>
          </a:p>
          <a:p>
            <a:pPr algn="ctr"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8 bảng</a:t>
            </a:r>
            <a:endParaRPr lang="en-US" sz="1400" dirty="0"/>
          </a:p>
        </p:txBody>
      </p:sp>
      <p:sp>
        <p:nvSpPr>
          <p:cNvPr id="18" name="Text 11"/>
          <p:cNvSpPr/>
          <p:nvPr/>
        </p:nvSpPr>
        <p:spPr>
          <a:xfrm>
            <a:off x="812800" y="536194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Be Vietnam Pro" pitchFamily="34" charset="0"/>
                <a:ea typeface="Be Vietnam Pro" pitchFamily="34" charset="-122"/>
                <a:cs typeface="Be Vietnam Pro" pitchFamily="34" charset="-120"/>
              </a:rPr>
              <a:t>Cả 3 tầng chạy trong Docker, bật bằng một lệnh: </a:t>
            </a:r>
            <a:r>
              <a:rPr lang="en-US" sz="1500" b="1" dirty="0">
                <a:solidFill>
                  <a:srgbClr val="14213D"/>
                </a:solidFill>
                <a:latin typeface="Be Vietnam Pro" pitchFamily="34" charset="0"/>
                <a:ea typeface="Be Vietnam Pro" pitchFamily="34" charset="-122"/>
                <a:cs typeface="Be Vietnam Pro" pitchFamily="34" charset="-120"/>
              </a:rPr>
              <a:t>docker compose up --build</a:t>
            </a:r>
            <a:endParaRPr lang="en-US" sz="1500" dirty="0"/>
          </a:p>
        </p:txBody>
      </p:sp>
      <p:sp>
        <p:nvSpPr>
          <p:cNvPr id="19" name="Text 12"/>
          <p:cNvSpPr/>
          <p:nvPr/>
        </p:nvSpPr>
        <p:spPr>
          <a:xfrm>
            <a:off x="812800" y="6238241"/>
            <a:ext cx="45784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578"/>
                </a:solidFill>
                <a:latin typeface="Be Vietnam Pro" pitchFamily="34" charset="0"/>
                <a:ea typeface="Be Vietnam Pro" pitchFamily="34" charset="-122"/>
                <a:cs typeface="Be Vietnam Pro" pitchFamily="34" charset="-120"/>
              </a:rPr>
              <a:t>Chi tiết: DFD Level 0 và Level 1 trong tài liệu thiết kế</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2 · BACKEND</a:t>
            </a:r>
            <a:endParaRPr lang="en-US" sz="1300" dirty="0"/>
          </a:p>
        </p:txBody>
      </p:sp>
      <p:sp>
        <p:nvSpPr>
          <p:cNvPr id="3" name="Text 1"/>
          <p:cNvSpPr/>
          <p:nvPr>
            <p:ph type="title"/>
          </p:nvPr>
        </p:nvSpPr>
        <p:spPr>
          <a:xfrm>
            <a:off x="812800" y="114554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Be Vietnam Pro" pitchFamily="34" charset="0"/>
                <a:ea typeface="Be Vietnam Pro" pitchFamily="34" charset="-122"/>
                <a:cs typeface="Be Vietnam Pro" pitchFamily="34" charset="-120"/>
              </a:rPr>
              <a:t>Từ cây JSON sang CSDL quan hệ có kiểm thử</a:t>
            </a:r>
            <a:endParaRPr lang="en-US" sz="3200" dirty="0"/>
          </a:p>
        </p:txBody>
      </p:sp>
      <p:sp>
        <p:nvSpPr>
          <p:cNvPr id="4" name="Shape 2"/>
          <p:cNvSpPr/>
          <p:nvPr/>
        </p:nvSpPr>
        <p:spPr>
          <a:xfrm>
            <a:off x="812800" y="1846580"/>
            <a:ext cx="10566400" cy="3227070"/>
          </a:xfrm>
          <a:prstGeom prst="rect">
            <a:avLst/>
          </a:prstGeom>
          <a:solidFill>
            <a:srgbClr val="FFFFFF"/>
          </a:solidFill>
          <a:ln/>
        </p:spPr>
      </p:sp>
      <p:sp>
        <p:nvSpPr>
          <p:cNvPr id="5" name="Shape 3"/>
          <p:cNvSpPr/>
          <p:nvPr/>
        </p:nvSpPr>
        <p:spPr>
          <a:xfrm>
            <a:off x="11376025" y="1846580"/>
            <a:ext cx="0" cy="3227070"/>
          </a:xfrm>
          <a:prstGeom prst="line">
            <a:avLst/>
          </a:prstGeom>
          <a:noFill/>
          <a:ln w="6350">
            <a:solidFill>
              <a:srgbClr val="E2DED3"/>
            </a:solidFill>
            <a:prstDash val="solid"/>
          </a:ln>
        </p:spPr>
      </p:sp>
      <p:sp>
        <p:nvSpPr>
          <p:cNvPr id="6" name="Shape 4"/>
          <p:cNvSpPr/>
          <p:nvPr/>
        </p:nvSpPr>
        <p:spPr>
          <a:xfrm>
            <a:off x="812800" y="5070475"/>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56740"/>
          <a:ext cx="10551160" cy="3211830"/>
        </p:xfrm>
        <a:graphic>
          <a:graphicData uri="http://schemas.openxmlformats.org/drawingml/2006/table">
            <a:tbl>
              <a:tblPr/>
              <a:tblGrid>
                <a:gridCol w="2110232"/>
                <a:gridCol w="4220464"/>
                <a:gridCol w="4220464"/>
              </a:tblGrid>
              <a:tr h="356870">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Tiêu chí</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EDU (gốc)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HKII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Cơ sở dữ liệu</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Firebase RTDB, cây JSON, không schema</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PostgreSQL, 8 bảng, khóa ngoại, unique, Alembic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Phân quyền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database.rules.json, 597 dòng</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deps.py, một hàm dùng chung mọi API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Đăng nhập</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Hàm issueToken cấp custom token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/auth/login cấp JWT, bcrypt, khóa sau 5 lần sai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Logic nghiệp vụ</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Rải ở client và trigger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Tập trung ở routers và services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Ngôn ngữ</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JavaScript (Node)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Python 3.12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Kiểm thử</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Test riêng từng hàm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15 test API đầu cuối (pytest), 15/15 đạt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Triển khai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firebase deploy lên Google Cloud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docker compose, chạy ở mọi máy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Thời gian thực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Có, lắng nghe thay đổi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Chưa có, tải lại dữ liệu</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3 · FRONTEND</a:t>
            </a:r>
            <a:endParaRPr lang="en-US" sz="1300" dirty="0"/>
          </a:p>
        </p:txBody>
      </p:sp>
      <p:sp>
        <p:nvSpPr>
          <p:cNvPr id="3" name="Text 1"/>
          <p:cNvSpPr/>
          <p:nvPr>
            <p:ph type="title"/>
          </p:nvPr>
        </p:nvSpPr>
        <p:spPr>
          <a:xfrm>
            <a:off x="812800" y="11455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Be Vietnam Pro" pitchFamily="34" charset="0"/>
                <a:ea typeface="Be Vietnam Pro" pitchFamily="34" charset="-122"/>
                <a:cs typeface="Be Vietnam Pro" pitchFamily="34" charset="-120"/>
              </a:rPr>
              <a:t>Cùng công cụ, khác ngôn ngữ thiết kế</a:t>
            </a:r>
            <a:endParaRPr lang="en-US" sz="3200" dirty="0"/>
          </a:p>
        </p:txBody>
      </p:sp>
      <p:sp>
        <p:nvSpPr>
          <p:cNvPr id="4" name="Text 2"/>
          <p:cNvSpPr/>
          <p:nvPr/>
        </p:nvSpPr>
        <p:spPr>
          <a:xfrm>
            <a:off x="812800" y="1871982"/>
            <a:ext cx="139271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Be Vietnam Pro" pitchFamily="34" charset="0"/>
                <a:ea typeface="Be Vietnam Pro" pitchFamily="34" charset="-122"/>
                <a:cs typeface="Be Vietnam Pro" pitchFamily="34" charset="-120"/>
              </a:rPr>
              <a:t>Giống hệt nhau:</a:t>
            </a:r>
            <a:endParaRPr lang="en-US" sz="1300" dirty="0"/>
          </a:p>
        </p:txBody>
      </p:sp>
      <p:sp>
        <p:nvSpPr>
          <p:cNvPr id="5" name="Text 3"/>
          <p:cNvSpPr/>
          <p:nvPr/>
        </p:nvSpPr>
        <p:spPr>
          <a:xfrm>
            <a:off x="2205514" y="1821182"/>
            <a:ext cx="945832" cy="332740"/>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React 19</a:t>
            </a:r>
            <a:endParaRPr lang="en-US" sz="1300" dirty="0"/>
          </a:p>
        </p:txBody>
      </p:sp>
      <p:sp>
        <p:nvSpPr>
          <p:cNvPr id="6" name="Text 4"/>
          <p:cNvSpPr/>
          <p:nvPr/>
        </p:nvSpPr>
        <p:spPr>
          <a:xfrm>
            <a:off x="3252946" y="1821182"/>
            <a:ext cx="716518" cy="332740"/>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Vite 7</a:t>
            </a:r>
            <a:endParaRPr lang="en-US" sz="1300" dirty="0"/>
          </a:p>
        </p:txBody>
      </p:sp>
      <p:sp>
        <p:nvSpPr>
          <p:cNvPr id="7" name="Text 5"/>
          <p:cNvSpPr/>
          <p:nvPr/>
        </p:nvSpPr>
        <p:spPr>
          <a:xfrm>
            <a:off x="4071064" y="1821182"/>
            <a:ext cx="1074579" cy="332740"/>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Tailwind 3</a:t>
            </a:r>
            <a:endParaRPr lang="en-US" sz="1300" dirty="0"/>
          </a:p>
        </p:txBody>
      </p:sp>
      <p:sp>
        <p:nvSpPr>
          <p:cNvPr id="8" name="Text 6"/>
          <p:cNvSpPr/>
          <p:nvPr/>
        </p:nvSpPr>
        <p:spPr>
          <a:xfrm>
            <a:off x="5247243" y="1821182"/>
            <a:ext cx="1438434" cy="332740"/>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React Router 7</a:t>
            </a:r>
            <a:endParaRPr lang="en-US" sz="1300" dirty="0"/>
          </a:p>
        </p:txBody>
      </p:sp>
      <p:sp>
        <p:nvSpPr>
          <p:cNvPr id="9" name="Text 7"/>
          <p:cNvSpPr/>
          <p:nvPr/>
        </p:nvSpPr>
        <p:spPr>
          <a:xfrm>
            <a:off x="6787277" y="1821182"/>
            <a:ext cx="1275318" cy="332740"/>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lucide-react</a:t>
            </a:r>
            <a:endParaRPr lang="en-US" sz="1300" dirty="0"/>
          </a:p>
        </p:txBody>
      </p:sp>
      <p:sp>
        <p:nvSpPr>
          <p:cNvPr id="10" name="Shape 8"/>
          <p:cNvSpPr/>
          <p:nvPr/>
        </p:nvSpPr>
        <p:spPr>
          <a:xfrm>
            <a:off x="812800" y="2382521"/>
            <a:ext cx="10566400" cy="2513330"/>
          </a:xfrm>
          <a:prstGeom prst="rect">
            <a:avLst/>
          </a:prstGeom>
          <a:solidFill>
            <a:srgbClr val="FFFFFF"/>
          </a:solidFill>
          <a:ln/>
        </p:spPr>
      </p:sp>
      <p:sp>
        <p:nvSpPr>
          <p:cNvPr id="11" name="Shape 9"/>
          <p:cNvSpPr/>
          <p:nvPr/>
        </p:nvSpPr>
        <p:spPr>
          <a:xfrm>
            <a:off x="11376025" y="2382521"/>
            <a:ext cx="0" cy="2513330"/>
          </a:xfrm>
          <a:prstGeom prst="line">
            <a:avLst/>
          </a:prstGeom>
          <a:noFill/>
          <a:ln w="6350">
            <a:solidFill>
              <a:srgbClr val="E2DED3"/>
            </a:solidFill>
            <a:prstDash val="solid"/>
          </a:ln>
        </p:spPr>
      </p:sp>
      <p:sp>
        <p:nvSpPr>
          <p:cNvPr id="12" name="Shape 10"/>
          <p:cNvSpPr/>
          <p:nvPr/>
        </p:nvSpPr>
        <p:spPr>
          <a:xfrm>
            <a:off x="812800" y="4892676"/>
            <a:ext cx="10566400" cy="0"/>
          </a:xfrm>
          <a:prstGeom prst="line">
            <a:avLst/>
          </a:prstGeom>
          <a:noFill/>
          <a:ln w="6350">
            <a:solidFill>
              <a:srgbClr val="E2DED3"/>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2392681"/>
          <a:ext cx="10551160" cy="2498090"/>
        </p:xfrm>
        <a:graphic>
          <a:graphicData uri="http://schemas.openxmlformats.org/drawingml/2006/table">
            <a:tbl>
              <a:tblPr/>
              <a:tblGrid>
                <a:gridCol w="2110232"/>
                <a:gridCol w="4220464"/>
                <a:gridCol w="4220464"/>
              </a:tblGrid>
              <a:tr h="356870">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Tiêu chí</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EDU (gốc)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1EA"/>
                          </a:solidFill>
                          <a:latin typeface="Be Vietnam Pro" pitchFamily="34" charset="0"/>
                          <a:ea typeface="Be Vietnam Pro" pitchFamily="34" charset="-122"/>
                          <a:cs typeface="Be Vietnam Pro" pitchFamily="34" charset="-120"/>
                        </a:rPr>
                        <a:t>HKII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Cấu trúc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4 layout riêng, trang chia theo vai trò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1 Layout chung, menu đổi theo vai trò; 9 trang</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Gọi dữ liệu</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Firebase SDK, đọc thẳng DB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api.js gọi /api, gắn token JWT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Màu chủ đạo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Navy #003366, biến CSS một nguồn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Indigo #4F46E5, mặc định Tailwind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Hệ thiết kế</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theme.js: nút, ô nhập, thẻ; 3 cấp đổ bóng</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ui.jsx: vài component cơ bản, font Inter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Đặt tên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Trộn tiếng Việt (khoaTaiKhoan, lichHoc)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Tiếng Anh hoàn toàn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4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Trải nghiệm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Game Phaser, skin mùa lễ, thông báo đẩy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Tối giản, chỉ phục vụ nghiệp vụ</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6C4BF"/>
                      </a:solidFill>
                      <a:prstDash val="solid"/>
                      <a:round/>
                      <a:headEnd type="none" w="med" len="med"/>
                      <a:tailEnd type="none" w="med" len="med"/>
                    </a:lnL>
                    <a:lnR w="12700" cap="flat" cmpd="sng" algn="ctr">
                      <a:solidFill>
                        <a:srgbClr val="C6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4BF"/>
                      </a:solidFill>
                      <a:prstDash val="solid"/>
                      <a:round/>
                      <a:headEnd type="none" w="med" len="med"/>
                      <a:tailEnd type="none" w="med" len="med"/>
                    </a:lnB>
                    <a:solidFill>
                      <a:srgbClr val="F8F6F0"/>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892B"/>
                </a:solidFill>
                <a:latin typeface="Be Vietnam Pro" pitchFamily="34" charset="0"/>
                <a:ea typeface="Be Vietnam Pro" pitchFamily="34" charset="-122"/>
                <a:cs typeface="Be Vietnam Pro" pitchFamily="34" charset="-120"/>
              </a:rPr>
              <a:t>4 · TASK SHEET</a:t>
            </a:r>
            <a:endParaRPr lang="en-US" sz="1300" dirty="0"/>
          </a:p>
        </p:txBody>
      </p:sp>
      <p:sp>
        <p:nvSpPr>
          <p:cNvPr id="3" name="Text 1"/>
          <p:cNvSpPr/>
          <p:nvPr>
            <p:ph type="title"/>
          </p:nvPr>
        </p:nvSpPr>
        <p:spPr>
          <a:xfrm>
            <a:off x="812800" y="11455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Be Vietnam Pro" pitchFamily="34" charset="0"/>
                <a:ea typeface="Be Vietnam Pro" pitchFamily="34" charset="-122"/>
                <a:cs typeface="Be Vietnam Pro" pitchFamily="34" charset="-120"/>
              </a:rPr>
              <a:t>Tiến độ từ 09/10 đến nay</a:t>
            </a:r>
            <a:endParaRPr lang="en-US" sz="3200" dirty="0"/>
          </a:p>
        </p:txBody>
      </p:sp>
      <p:sp>
        <p:nvSpPr>
          <p:cNvPr id="4" name="Shape 2"/>
          <p:cNvSpPr/>
          <p:nvPr/>
        </p:nvSpPr>
        <p:spPr>
          <a:xfrm>
            <a:off x="812800" y="1967232"/>
            <a:ext cx="1991360" cy="0"/>
          </a:xfrm>
          <a:prstGeom prst="line">
            <a:avLst/>
          </a:prstGeom>
          <a:noFill/>
          <a:ln w="38100">
            <a:solidFill>
              <a:srgbClr val="E0892B"/>
            </a:solidFill>
            <a:prstDash val="solid"/>
          </a:ln>
        </p:spPr>
      </p:sp>
      <p:sp>
        <p:nvSpPr>
          <p:cNvPr id="5" name="Text 3"/>
          <p:cNvSpPr/>
          <p:nvPr/>
        </p:nvSpPr>
        <p:spPr>
          <a:xfrm>
            <a:off x="812800" y="2136139"/>
            <a:ext cx="20511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09–13/10</a:t>
            </a:r>
            <a:endParaRPr lang="en-US" sz="2200" dirty="0"/>
          </a:p>
        </p:txBody>
      </p:sp>
      <p:sp>
        <p:nvSpPr>
          <p:cNvPr id="6" name="Text 4"/>
          <p:cNvSpPr/>
          <p:nvPr/>
        </p:nvSpPr>
        <p:spPr>
          <a:xfrm>
            <a:off x="812800" y="2628900"/>
            <a:ext cx="205110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Phân tích yêu cầu, chọn 4 vai trò, 5 module; thiết kế CSDL 8 bảng</a:t>
            </a:r>
            <a:endParaRPr lang="en-US" sz="1300" dirty="0"/>
          </a:p>
        </p:txBody>
      </p:sp>
      <p:sp>
        <p:nvSpPr>
          <p:cNvPr id="7" name="Shape 5"/>
          <p:cNvSpPr/>
          <p:nvPr/>
        </p:nvSpPr>
        <p:spPr>
          <a:xfrm>
            <a:off x="2956560" y="1967232"/>
            <a:ext cx="1991360" cy="0"/>
          </a:xfrm>
          <a:prstGeom prst="line">
            <a:avLst/>
          </a:prstGeom>
          <a:noFill/>
          <a:ln w="38100">
            <a:solidFill>
              <a:srgbClr val="E0892B"/>
            </a:solidFill>
            <a:prstDash val="solid"/>
          </a:ln>
        </p:spPr>
      </p:sp>
      <p:sp>
        <p:nvSpPr>
          <p:cNvPr id="8" name="Text 6"/>
          <p:cNvSpPr/>
          <p:nvPr/>
        </p:nvSpPr>
        <p:spPr>
          <a:xfrm>
            <a:off x="2956560" y="2136139"/>
            <a:ext cx="20511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14/10</a:t>
            </a:r>
            <a:endParaRPr lang="en-US" sz="2200" dirty="0"/>
          </a:p>
        </p:txBody>
      </p:sp>
      <p:sp>
        <p:nvSpPr>
          <p:cNvPr id="9" name="Text 7"/>
          <p:cNvSpPr/>
          <p:nvPr/>
        </p:nvSpPr>
        <p:spPr>
          <a:xfrm>
            <a:off x="2956560" y="2628900"/>
            <a:ext cx="205110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Backend 36 API, 15 test; giao diện React; docker-compose</a:t>
            </a:r>
            <a:endParaRPr lang="en-US" sz="1300" dirty="0"/>
          </a:p>
        </p:txBody>
      </p:sp>
      <p:sp>
        <p:nvSpPr>
          <p:cNvPr id="10" name="Shape 8"/>
          <p:cNvSpPr/>
          <p:nvPr/>
        </p:nvSpPr>
        <p:spPr>
          <a:xfrm>
            <a:off x="5100320" y="1967232"/>
            <a:ext cx="1991360" cy="0"/>
          </a:xfrm>
          <a:prstGeom prst="line">
            <a:avLst/>
          </a:prstGeom>
          <a:noFill/>
          <a:ln w="38100">
            <a:solidFill>
              <a:srgbClr val="E0892B"/>
            </a:solidFill>
            <a:prstDash val="solid"/>
          </a:ln>
        </p:spPr>
      </p:sp>
      <p:sp>
        <p:nvSpPr>
          <p:cNvPr id="11" name="Text 9"/>
          <p:cNvSpPr/>
          <p:nvPr/>
        </p:nvSpPr>
        <p:spPr>
          <a:xfrm>
            <a:off x="5100320" y="2136139"/>
            <a:ext cx="20511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17/10</a:t>
            </a:r>
            <a:endParaRPr lang="en-US" sz="2200" dirty="0"/>
          </a:p>
        </p:txBody>
      </p:sp>
      <p:sp>
        <p:nvSpPr>
          <p:cNvPr id="12" name="Text 10"/>
          <p:cNvSpPr/>
          <p:nvPr/>
        </p:nvSpPr>
        <p:spPr>
          <a:xfrm>
            <a:off x="5100320" y="2628900"/>
            <a:ext cx="205110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Hướng dẫn chạy, kịch bản demo, slide; làm lại giao diện</a:t>
            </a:r>
            <a:endParaRPr lang="en-US" sz="1300" dirty="0"/>
          </a:p>
        </p:txBody>
      </p:sp>
      <p:sp>
        <p:nvSpPr>
          <p:cNvPr id="13" name="Shape 11"/>
          <p:cNvSpPr/>
          <p:nvPr/>
        </p:nvSpPr>
        <p:spPr>
          <a:xfrm>
            <a:off x="7244080" y="1967232"/>
            <a:ext cx="1991360" cy="0"/>
          </a:xfrm>
          <a:prstGeom prst="line">
            <a:avLst/>
          </a:prstGeom>
          <a:noFill/>
          <a:ln w="38100">
            <a:solidFill>
              <a:srgbClr val="E0892B"/>
            </a:solidFill>
            <a:prstDash val="solid"/>
          </a:ln>
        </p:spPr>
      </p:sp>
      <p:sp>
        <p:nvSpPr>
          <p:cNvPr id="14" name="Text 12"/>
          <p:cNvSpPr/>
          <p:nvPr/>
        </p:nvSpPr>
        <p:spPr>
          <a:xfrm>
            <a:off x="7244080" y="2136139"/>
            <a:ext cx="20511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19/10</a:t>
            </a:r>
            <a:endParaRPr lang="en-US" sz="2200" dirty="0"/>
          </a:p>
        </p:txBody>
      </p:sp>
      <p:sp>
        <p:nvSpPr>
          <p:cNvPr id="15" name="Text 13"/>
          <p:cNvSpPr/>
          <p:nvPr/>
        </p:nvSpPr>
        <p:spPr>
          <a:xfrm>
            <a:off x="7244080" y="2628900"/>
            <a:ext cx="205110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Phân công 2 thành viên, 15 GitHub Issues cho việc còn lại</a:t>
            </a:r>
            <a:endParaRPr lang="en-US" sz="1300" dirty="0"/>
          </a:p>
        </p:txBody>
      </p:sp>
      <p:sp>
        <p:nvSpPr>
          <p:cNvPr id="16" name="Shape 14"/>
          <p:cNvSpPr/>
          <p:nvPr/>
        </p:nvSpPr>
        <p:spPr>
          <a:xfrm>
            <a:off x="9387840" y="1967232"/>
            <a:ext cx="1991360" cy="0"/>
          </a:xfrm>
          <a:prstGeom prst="line">
            <a:avLst/>
          </a:prstGeom>
          <a:noFill/>
          <a:ln w="38100">
            <a:solidFill>
              <a:srgbClr val="E0892B"/>
            </a:solidFill>
            <a:prstDash val="solid"/>
          </a:ln>
        </p:spPr>
      </p:sp>
      <p:sp>
        <p:nvSpPr>
          <p:cNvPr id="17" name="Text 15"/>
          <p:cNvSpPr/>
          <p:nvPr/>
        </p:nvSpPr>
        <p:spPr>
          <a:xfrm>
            <a:off x="9387840" y="2136139"/>
            <a:ext cx="205110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20–23/10</a:t>
            </a:r>
            <a:endParaRPr lang="en-US" sz="2200" dirty="0"/>
          </a:p>
        </p:txBody>
      </p:sp>
      <p:sp>
        <p:nvSpPr>
          <p:cNvPr id="18" name="Text 16"/>
          <p:cNvSpPr/>
          <p:nvPr/>
        </p:nvSpPr>
        <p:spPr>
          <a:xfrm>
            <a:off x="9387840" y="2628900"/>
            <a:ext cx="20511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Tài liệu Review 1 và 2, 1st Status Report</a:t>
            </a:r>
            <a:endParaRPr lang="en-US" sz="1300" dirty="0"/>
          </a:p>
        </p:txBody>
      </p:sp>
      <p:sp>
        <p:nvSpPr>
          <p:cNvPr id="19" name="Shape 17"/>
          <p:cNvSpPr/>
          <p:nvPr/>
        </p:nvSpPr>
        <p:spPr>
          <a:xfrm>
            <a:off x="812800" y="3677921"/>
            <a:ext cx="3386614" cy="1257300"/>
          </a:xfrm>
          <a:prstGeom prst="roundRect">
            <a:avLst>
              <a:gd name="adj" fmla="val 8081"/>
            </a:avLst>
          </a:prstGeom>
          <a:solidFill>
            <a:srgbClr val="1F2E52"/>
          </a:solidFill>
          <a:ln/>
        </p:spPr>
      </p:sp>
      <p:sp>
        <p:nvSpPr>
          <p:cNvPr id="20" name="Text 18"/>
          <p:cNvSpPr/>
          <p:nvPr/>
        </p:nvSpPr>
        <p:spPr>
          <a:xfrm>
            <a:off x="1066800" y="3881121"/>
            <a:ext cx="2964972"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4F1EA"/>
                </a:solidFill>
                <a:latin typeface="Be Vietnam Pro" pitchFamily="34" charset="0"/>
                <a:ea typeface="Be Vietnam Pro" pitchFamily="34" charset="-122"/>
                <a:cs typeface="Be Vietnam Pro" pitchFamily="34" charset="-120"/>
              </a:rPr>
              <a:t>5/5</a:t>
            </a:r>
            <a:endParaRPr lang="en-US" sz="3200" dirty="0"/>
          </a:p>
        </p:txBody>
      </p:sp>
      <p:sp>
        <p:nvSpPr>
          <p:cNvPr id="21" name="Text 19"/>
          <p:cNvSpPr/>
          <p:nvPr/>
        </p:nvSpPr>
        <p:spPr>
          <a:xfrm>
            <a:off x="1066800" y="4500882"/>
            <a:ext cx="29649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module chạy được bằng Docker</a:t>
            </a:r>
            <a:endParaRPr lang="en-US" sz="1300" dirty="0"/>
          </a:p>
        </p:txBody>
      </p:sp>
      <p:sp>
        <p:nvSpPr>
          <p:cNvPr id="22" name="Shape 20"/>
          <p:cNvSpPr/>
          <p:nvPr/>
        </p:nvSpPr>
        <p:spPr>
          <a:xfrm>
            <a:off x="4402614" y="3677921"/>
            <a:ext cx="3386693" cy="1257300"/>
          </a:xfrm>
          <a:prstGeom prst="roundRect">
            <a:avLst>
              <a:gd name="adj" fmla="val 8081"/>
            </a:avLst>
          </a:prstGeom>
          <a:solidFill>
            <a:srgbClr val="1F2E52"/>
          </a:solidFill>
          <a:ln/>
        </p:spPr>
      </p:sp>
      <p:sp>
        <p:nvSpPr>
          <p:cNvPr id="23" name="Text 21"/>
          <p:cNvSpPr/>
          <p:nvPr/>
        </p:nvSpPr>
        <p:spPr>
          <a:xfrm>
            <a:off x="4656614" y="3881121"/>
            <a:ext cx="2965054"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4F1EA"/>
                </a:solidFill>
                <a:latin typeface="Be Vietnam Pro" pitchFamily="34" charset="0"/>
                <a:ea typeface="Be Vietnam Pro" pitchFamily="34" charset="-122"/>
                <a:cs typeface="Be Vietnam Pro" pitchFamily="34" charset="-120"/>
              </a:rPr>
              <a:t>15/15</a:t>
            </a:r>
            <a:endParaRPr lang="en-US" sz="3200" dirty="0"/>
          </a:p>
        </p:txBody>
      </p:sp>
      <p:sp>
        <p:nvSpPr>
          <p:cNvPr id="24" name="Text 22"/>
          <p:cNvSpPr/>
          <p:nvPr/>
        </p:nvSpPr>
        <p:spPr>
          <a:xfrm>
            <a:off x="4656614" y="4500882"/>
            <a:ext cx="29650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test tự động đạt (pytest)</a:t>
            </a:r>
            <a:endParaRPr lang="en-US" sz="1300" dirty="0"/>
          </a:p>
        </p:txBody>
      </p:sp>
      <p:sp>
        <p:nvSpPr>
          <p:cNvPr id="25" name="Shape 23"/>
          <p:cNvSpPr/>
          <p:nvPr/>
        </p:nvSpPr>
        <p:spPr>
          <a:xfrm>
            <a:off x="7992507" y="3677921"/>
            <a:ext cx="3386693" cy="1257300"/>
          </a:xfrm>
          <a:prstGeom prst="roundRect">
            <a:avLst>
              <a:gd name="adj" fmla="val 8081"/>
            </a:avLst>
          </a:prstGeom>
          <a:solidFill>
            <a:srgbClr val="1F2E52"/>
          </a:solidFill>
          <a:ln/>
        </p:spPr>
      </p:sp>
      <p:sp>
        <p:nvSpPr>
          <p:cNvPr id="26" name="Text 24"/>
          <p:cNvSpPr/>
          <p:nvPr/>
        </p:nvSpPr>
        <p:spPr>
          <a:xfrm>
            <a:off x="8246507" y="3881121"/>
            <a:ext cx="2965054"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4F1EA"/>
                </a:solidFill>
                <a:latin typeface="Be Vietnam Pro" pitchFamily="34" charset="0"/>
                <a:ea typeface="Be Vietnam Pro" pitchFamily="34" charset="-122"/>
                <a:cs typeface="Be Vietnam Pro" pitchFamily="34" charset="-120"/>
              </a:rPr>
              <a:t>7/13</a:t>
            </a:r>
            <a:endParaRPr lang="en-US" sz="3200" dirty="0"/>
          </a:p>
        </p:txBody>
      </p:sp>
      <p:sp>
        <p:nvSpPr>
          <p:cNvPr id="27" name="Text 25"/>
          <p:cNvSpPr/>
          <p:nvPr/>
        </p:nvSpPr>
        <p:spPr>
          <a:xfrm>
            <a:off x="8246507" y="4500882"/>
            <a:ext cx="29650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3"/>
                </a:solidFill>
                <a:latin typeface="Be Vietnam Pro" pitchFamily="34" charset="0"/>
                <a:ea typeface="Be Vietnam Pro" pitchFamily="34" charset="-122"/>
                <a:cs typeface="Be Vietnam Pro" pitchFamily="34" charset="-120"/>
              </a:rPr>
              <a:t>đầu việc Task Sheet đã xong</a:t>
            </a:r>
            <a:endParaRPr lang="en-US" sz="1300" dirty="0"/>
          </a:p>
        </p:txBody>
      </p:sp>
      <p:sp>
        <p:nvSpPr>
          <p:cNvPr id="28" name="Text 26"/>
          <p:cNvSpPr/>
          <p:nvPr/>
        </p:nvSpPr>
        <p:spPr>
          <a:xfrm>
            <a:off x="812800" y="6238239"/>
            <a:ext cx="49586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5"/>
                </a:solidFill>
                <a:latin typeface="Be Vietnam Pro" pitchFamily="34" charset="0"/>
                <a:ea typeface="Be Vietnam Pro" pitchFamily="34" charset="-122"/>
                <a:cs typeface="Be Vietnam Pro" pitchFamily="34" charset="-120"/>
              </a:rPr>
              <a:t>Nguồn: lịch sử commit GitHub laviquyen229/ProjectHKII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4 · TASK SHEET</a:t>
            </a:r>
            <a:endParaRPr lang="en-US" sz="1300" dirty="0"/>
          </a:p>
        </p:txBody>
      </p:sp>
      <p:sp>
        <p:nvSpPr>
          <p:cNvPr id="3" name="Text 1"/>
          <p:cNvSpPr/>
          <p:nvPr>
            <p:ph type="title"/>
          </p:nvPr>
        </p:nvSpPr>
        <p:spPr>
          <a:xfrm>
            <a:off x="812800" y="11455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Be Vietnam Pro" pitchFamily="34" charset="0"/>
                <a:ea typeface="Be Vietnam Pro" pitchFamily="34" charset="-122"/>
                <a:cs typeface="Be Vietnam Pro" pitchFamily="34" charset="-120"/>
              </a:rPr>
              <a:t>Phân công hai thành viên</a:t>
            </a:r>
            <a:endParaRPr lang="en-US" sz="3200" dirty="0"/>
          </a:p>
        </p:txBody>
      </p:sp>
      <p:sp>
        <p:nvSpPr>
          <p:cNvPr id="4" name="Shape 2"/>
          <p:cNvSpPr/>
          <p:nvPr/>
        </p:nvSpPr>
        <p:spPr>
          <a:xfrm>
            <a:off x="815975" y="1849757"/>
            <a:ext cx="5175250" cy="2816860"/>
          </a:xfrm>
          <a:prstGeom prst="roundRect">
            <a:avLst>
              <a:gd name="adj" fmla="val 3494"/>
            </a:avLst>
          </a:prstGeom>
          <a:solidFill>
            <a:srgbClr val="FFFFFF"/>
          </a:solidFill>
          <a:ln w="6350">
            <a:solidFill>
              <a:srgbClr val="E2DED3"/>
            </a:solidFill>
            <a:prstDash val="solid"/>
          </a:ln>
        </p:spPr>
      </p:sp>
      <p:sp>
        <p:nvSpPr>
          <p:cNvPr id="5" name="Text 3"/>
          <p:cNvSpPr/>
          <p:nvPr/>
        </p:nvSpPr>
        <p:spPr>
          <a:xfrm>
            <a:off x="1071880" y="21056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Be Vietnam Pro" pitchFamily="34" charset="0"/>
                <a:ea typeface="Be Vietnam Pro" pitchFamily="34" charset="-122"/>
                <a:cs typeface="Be Vietnam Pro" pitchFamily="34" charset="-120"/>
              </a:rPr>
              <a:t>Thái Phát</a:t>
            </a:r>
            <a:endParaRPr lang="en-US" sz="1800" dirty="0"/>
          </a:p>
        </p:txBody>
      </p:sp>
      <p:sp>
        <p:nvSpPr>
          <p:cNvPr id="6" name="Text 4"/>
          <p:cNvSpPr/>
          <p:nvPr/>
        </p:nvSpPr>
        <p:spPr>
          <a:xfrm>
            <a:off x="1071880" y="25069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6A12"/>
                </a:solidFill>
                <a:latin typeface="Be Vietnam Pro" pitchFamily="34" charset="0"/>
                <a:ea typeface="Be Vietnam Pro" pitchFamily="34" charset="-122"/>
                <a:cs typeface="Be Vietnam Pro" pitchFamily="34" charset="-120"/>
              </a:rPr>
              <a:t>PHÂN TÍCH, THIẾT KẾ, TÀI LIỆU</a:t>
            </a:r>
            <a:endParaRPr lang="en-US" sz="1200" dirty="0"/>
          </a:p>
        </p:txBody>
      </p:sp>
      <p:sp>
        <p:nvSpPr>
          <p:cNvPr id="7" name="Text 5"/>
          <p:cNvSpPr/>
          <p:nvPr/>
        </p:nvSpPr>
        <p:spPr>
          <a:xfrm>
            <a:off x="1071880" y="2847339"/>
            <a:ext cx="4803343"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D3748"/>
                </a:solidFill>
                <a:latin typeface="Be Vietnam Pro" pitchFamily="34" charset="0"/>
                <a:ea typeface="Be Vietnam Pro" pitchFamily="34" charset="-122"/>
                <a:cs typeface="Be Vietnam Pro" pitchFamily="34" charset="-120"/>
              </a:rPr>
              <a:t>Đã xong:</a:t>
            </a:r>
            <a:r>
              <a:rPr lang="en-US" sz="1300" dirty="0">
                <a:solidFill>
                  <a:srgbClr val="2D3748"/>
                </a:solidFill>
                <a:latin typeface="Be Vietnam Pro" pitchFamily="34" charset="0"/>
                <a:ea typeface="Be Vietnam Pro" pitchFamily="34" charset="-122"/>
                <a:cs typeface="Be Vietnam Pro" pitchFamily="34" charset="-120"/>
              </a:rPr>
              <a:t> phân tích yêu cầu (09/10), thiết kế CSDL 8 bảng (11/10), tài liệu Review 1–2 và Status Report (20–23/10)</a:t>
            </a:r>
            <a:endParaRPr lang="en-US" sz="1300" dirty="0"/>
          </a:p>
        </p:txBody>
      </p:sp>
      <p:sp>
        <p:nvSpPr>
          <p:cNvPr id="8" name="Text 6"/>
          <p:cNvSpPr/>
          <p:nvPr/>
        </p:nvSpPr>
        <p:spPr>
          <a:xfrm>
            <a:off x="1071880" y="3453132"/>
            <a:ext cx="4803343"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D3748"/>
                </a:solidFill>
                <a:latin typeface="Be Vietnam Pro" pitchFamily="34" charset="0"/>
                <a:ea typeface="Be Vietnam Pro" pitchFamily="34" charset="-122"/>
                <a:cs typeface="Be Vietnam Pro" pitchFamily="34" charset="-120"/>
              </a:rPr>
              <a:t>Kế tiếp:</a:t>
            </a:r>
            <a:r>
              <a:rPr lang="en-US" sz="1300" dirty="0">
                <a:solidFill>
                  <a:srgbClr val="2D3748"/>
                </a:solidFill>
                <a:latin typeface="Be Vietnam Pro" pitchFamily="34" charset="0"/>
                <a:ea typeface="Be Vietnam Pro" pitchFamily="34" charset="-122"/>
                <a:cs typeface="Be Vietnam Pro" pitchFamily="34" charset="-120"/>
              </a:rPr>
              <a:t> màn đổi mật khẩu, liên kết phụ huynh, sửa điểm, test ghi danh (từ 26/10); Review 3 (từ 02/11)</a:t>
            </a:r>
            <a:endParaRPr lang="en-US" sz="1300" dirty="0"/>
          </a:p>
        </p:txBody>
      </p:sp>
      <p:sp>
        <p:nvSpPr>
          <p:cNvPr id="9" name="Shape 7"/>
          <p:cNvSpPr/>
          <p:nvPr/>
        </p:nvSpPr>
        <p:spPr>
          <a:xfrm>
            <a:off x="6200775" y="1849757"/>
            <a:ext cx="5175250" cy="2816860"/>
          </a:xfrm>
          <a:prstGeom prst="roundRect">
            <a:avLst>
              <a:gd name="adj" fmla="val 3494"/>
            </a:avLst>
          </a:prstGeom>
          <a:solidFill>
            <a:srgbClr val="FFFFFF"/>
          </a:solidFill>
          <a:ln w="6350">
            <a:solidFill>
              <a:srgbClr val="E2DED3"/>
            </a:solidFill>
            <a:prstDash val="solid"/>
          </a:ln>
        </p:spPr>
      </p:sp>
      <p:sp>
        <p:nvSpPr>
          <p:cNvPr id="10" name="Text 8"/>
          <p:cNvSpPr/>
          <p:nvPr/>
        </p:nvSpPr>
        <p:spPr>
          <a:xfrm>
            <a:off x="6456680" y="21056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Be Vietnam Pro" pitchFamily="34" charset="0"/>
                <a:ea typeface="Be Vietnam Pro" pitchFamily="34" charset="-122"/>
                <a:cs typeface="Be Vietnam Pro" pitchFamily="34" charset="-120"/>
              </a:rPr>
              <a:t>La Vĩ Quyền</a:t>
            </a:r>
            <a:endParaRPr lang="en-US" sz="1800" dirty="0"/>
          </a:p>
        </p:txBody>
      </p:sp>
      <p:sp>
        <p:nvSpPr>
          <p:cNvPr id="11" name="Text 9"/>
          <p:cNvSpPr/>
          <p:nvPr/>
        </p:nvSpPr>
        <p:spPr>
          <a:xfrm>
            <a:off x="6456680" y="25069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Be Vietnam Pro" pitchFamily="34" charset="0"/>
                <a:ea typeface="Be Vietnam Pro" pitchFamily="34" charset="-122"/>
                <a:cs typeface="Be Vietnam Pro" pitchFamily="34" charset="-120"/>
              </a:rPr>
              <a:t>HIỆN THỰC CODE, VẬN HÀNH</a:t>
            </a:r>
            <a:endParaRPr lang="en-US" sz="1200" dirty="0"/>
          </a:p>
        </p:txBody>
      </p:sp>
      <p:sp>
        <p:nvSpPr>
          <p:cNvPr id="12" name="Text 10"/>
          <p:cNvSpPr/>
          <p:nvPr/>
        </p:nvSpPr>
        <p:spPr>
          <a:xfrm>
            <a:off x="6456680" y="2847339"/>
            <a:ext cx="4803343"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D3748"/>
                </a:solidFill>
                <a:latin typeface="Be Vietnam Pro" pitchFamily="34" charset="0"/>
                <a:ea typeface="Be Vietnam Pro" pitchFamily="34" charset="-122"/>
                <a:cs typeface="Be Vietnam Pro" pitchFamily="34" charset="-120"/>
              </a:rPr>
              <a:t>Đã xong:</a:t>
            </a:r>
            <a:r>
              <a:rPr lang="en-US" sz="1300" dirty="0">
                <a:solidFill>
                  <a:srgbClr val="2D3748"/>
                </a:solidFill>
                <a:latin typeface="Be Vietnam Pro" pitchFamily="34" charset="0"/>
                <a:ea typeface="Be Vietnam Pro" pitchFamily="34" charset="-122"/>
                <a:cs typeface="Be Vietnam Pro" pitchFamily="34" charset="-120"/>
              </a:rPr>
              <a:t> backend FastAPI, 36 API, 15 test, giao diện React, Docker (14/10); hướng dẫn chạy, slide, giao diện mới (17/10)</a:t>
            </a:r>
            <a:endParaRPr lang="en-US" sz="1300" dirty="0"/>
          </a:p>
        </p:txBody>
      </p:sp>
      <p:sp>
        <p:nvSpPr>
          <p:cNvPr id="13" name="Text 11"/>
          <p:cNvSpPr/>
          <p:nvPr/>
        </p:nvSpPr>
        <p:spPr>
          <a:xfrm>
            <a:off x="6456680" y="3692525"/>
            <a:ext cx="4803343"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D3748"/>
                </a:solidFill>
                <a:latin typeface="Be Vietnam Pro" pitchFamily="34" charset="0"/>
                <a:ea typeface="Be Vietnam Pro" pitchFamily="34" charset="-122"/>
                <a:cs typeface="Be Vietnam Pro" pitchFamily="34" charset="-120"/>
              </a:rPr>
              <a:t>Kế tiếp:</a:t>
            </a:r>
            <a:r>
              <a:rPr lang="en-US" sz="1300" dirty="0">
                <a:solidFill>
                  <a:srgbClr val="2D3748"/>
                </a:solidFill>
                <a:latin typeface="Be Vietnam Pro" pitchFamily="34" charset="0"/>
                <a:ea typeface="Be Vietnam Pro" pitchFamily="34" charset="-122"/>
                <a:cs typeface="Be Vietnam Pro" pitchFamily="34" charset="-120"/>
              </a:rPr>
              <a:t> CI GitHub Actions, test giới hạn AI Coach, test PostgreSQL (từ 26/10); Installation Guide, User Guide (từ 09/11)</a:t>
            </a:r>
            <a:endParaRPr lang="en-US" sz="1300" dirty="0"/>
          </a:p>
        </p:txBody>
      </p:sp>
      <p:sp>
        <p:nvSpPr>
          <p:cNvPr id="14" name="Text 12"/>
          <p:cNvSpPr/>
          <p:nvPr/>
        </p:nvSpPr>
        <p:spPr>
          <a:xfrm>
            <a:off x="812800" y="4923789"/>
            <a:ext cx="10566400" cy="594995"/>
          </a:xfrm>
          <a:prstGeom prst="roundRect">
            <a:avLst>
              <a:gd name="adj" fmla="val 17076"/>
            </a:avLst>
          </a:prstGeom>
          <a:solidFill>
            <a:srgbClr val="14213D"/>
          </a:solidFill>
          <a:ln/>
        </p:spPr>
        <p:txBody>
          <a:bodyPr wrap="square" lIns="224242" tIns="148042" rIns="0" bIns="122642" rtlCol="0" anchor="t">
            <a:normAutofit/>
          </a:bodyPr>
          <a:lstStyle/>
          <a:p>
            <a:pPr algn="l" indent="0" marL="0">
              <a:lnSpc>
                <a:spcPts val="1885"/>
              </a:lnSpc>
              <a:buNone/>
            </a:pPr>
            <a:r>
              <a:rPr lang="en-US" sz="1300" b="1" dirty="0">
                <a:solidFill>
                  <a:srgbClr val="E0892B"/>
                </a:solidFill>
                <a:latin typeface="Be Vietnam Pro" pitchFamily="34" charset="0"/>
                <a:ea typeface="Be Vietnam Pro" pitchFamily="34" charset="-122"/>
                <a:cs typeface="Be Vietnam Pro" pitchFamily="34" charset="-120"/>
              </a:rPr>
              <a:t>Cả hai:</a:t>
            </a:r>
            <a:r>
              <a:rPr lang="en-US" sz="1300" dirty="0">
                <a:solidFill>
                  <a:srgbClr val="F4F1EA"/>
                </a:solidFill>
                <a:latin typeface="Be Vietnam Pro" pitchFamily="34" charset="0"/>
                <a:ea typeface="Be Vietnam Pro" pitchFamily="34" charset="-122"/>
                <a:cs typeface="Be Vietnam Pro" pitchFamily="34" charset="-120"/>
              </a:rPr>
              <a:t> phân công và 15 Issues (19/10), kiểm thử chéo (16/11), slide, video demo, tập bảo vệ (từ 20/11)</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26A12"/>
                </a:solidFill>
                <a:latin typeface="Be Vietnam Pro" pitchFamily="34" charset="0"/>
                <a:ea typeface="Be Vietnam Pro" pitchFamily="34" charset="-122"/>
                <a:cs typeface="Be Vietnam Pro" pitchFamily="34" charset="-120"/>
              </a:rPr>
              <a:t>CÁC MỐC TIẾP THEO</a:t>
            </a:r>
            <a:endParaRPr lang="en-US" sz="1300" dirty="0"/>
          </a:p>
        </p:txBody>
      </p:sp>
      <p:sp>
        <p:nvSpPr>
          <p:cNvPr id="3" name="Text 1"/>
          <p:cNvSpPr/>
          <p:nvPr>
            <p:ph type="title"/>
          </p:nvPr>
        </p:nvSpPr>
        <p:spPr>
          <a:xfrm>
            <a:off x="812800" y="11455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Be Vietnam Pro" pitchFamily="34" charset="0"/>
                <a:ea typeface="Be Vietnam Pro" pitchFamily="34" charset="-122"/>
                <a:cs typeface="Be Vietnam Pro" pitchFamily="34" charset="-120"/>
              </a:rPr>
              <a:t>Từ nay đến buổi bảo vệ</a:t>
            </a:r>
            <a:endParaRPr lang="en-US" sz="3200" dirty="0"/>
          </a:p>
        </p:txBody>
      </p:sp>
      <p:sp>
        <p:nvSpPr>
          <p:cNvPr id="4" name="Shape 2"/>
          <p:cNvSpPr/>
          <p:nvPr/>
        </p:nvSpPr>
        <p:spPr>
          <a:xfrm>
            <a:off x="815975" y="2658746"/>
            <a:ext cx="2520950" cy="1621790"/>
          </a:xfrm>
          <a:prstGeom prst="roundRect">
            <a:avLst>
              <a:gd name="adj" fmla="val 6069"/>
            </a:avLst>
          </a:prstGeom>
          <a:solidFill>
            <a:srgbClr val="FFFFFF"/>
          </a:solidFill>
          <a:ln w="6350">
            <a:solidFill>
              <a:srgbClr val="E2DED3"/>
            </a:solidFill>
            <a:prstDash val="solid"/>
          </a:ln>
        </p:spPr>
      </p:sp>
      <p:sp>
        <p:nvSpPr>
          <p:cNvPr id="5" name="Text 3"/>
          <p:cNvSpPr/>
          <p:nvPr/>
        </p:nvSpPr>
        <p:spPr>
          <a:xfrm>
            <a:off x="1046480" y="2889250"/>
            <a:ext cx="212173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A12"/>
                </a:solidFill>
                <a:latin typeface="Be Vietnam Pro" pitchFamily="34" charset="0"/>
                <a:ea typeface="Be Vietnam Pro" pitchFamily="34" charset="-122"/>
                <a:cs typeface="Be Vietnam Pro" pitchFamily="34" charset="-120"/>
              </a:rPr>
              <a:t>13/11</a:t>
            </a:r>
            <a:endParaRPr lang="en-US" sz="2200" dirty="0"/>
          </a:p>
        </p:txBody>
      </p:sp>
      <p:sp>
        <p:nvSpPr>
          <p:cNvPr id="6" name="Text 4"/>
          <p:cNvSpPr/>
          <p:nvPr/>
        </p:nvSpPr>
        <p:spPr>
          <a:xfrm>
            <a:off x="1046480" y="3356611"/>
            <a:ext cx="212173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3748"/>
                </a:solidFill>
                <a:latin typeface="Be Vietnam Pro" pitchFamily="34" charset="0"/>
                <a:ea typeface="Be Vietnam Pro" pitchFamily="34" charset="-122"/>
                <a:cs typeface="Be Vietnam Pro" pitchFamily="34" charset="-120"/>
              </a:rPr>
              <a:t>Review 3: ảnh màn hình, Testing Document, Final Checklist</a:t>
            </a:r>
            <a:endParaRPr lang="en-US" sz="1300" dirty="0"/>
          </a:p>
        </p:txBody>
      </p:sp>
      <p:sp>
        <p:nvSpPr>
          <p:cNvPr id="7" name="Shape 5"/>
          <p:cNvSpPr/>
          <p:nvPr/>
        </p:nvSpPr>
        <p:spPr>
          <a:xfrm>
            <a:off x="3495675" y="2658746"/>
            <a:ext cx="2520950" cy="1621790"/>
          </a:xfrm>
          <a:prstGeom prst="roundRect">
            <a:avLst>
              <a:gd name="adj" fmla="val 6069"/>
            </a:avLst>
          </a:prstGeom>
          <a:solidFill>
            <a:srgbClr val="FFFFFF"/>
          </a:solidFill>
          <a:ln w="6350">
            <a:solidFill>
              <a:srgbClr val="E2DED3"/>
            </a:solidFill>
            <a:prstDash val="solid"/>
          </a:ln>
        </p:spPr>
      </p:sp>
      <p:sp>
        <p:nvSpPr>
          <p:cNvPr id="8" name="Text 6"/>
          <p:cNvSpPr/>
          <p:nvPr/>
        </p:nvSpPr>
        <p:spPr>
          <a:xfrm>
            <a:off x="3726180" y="2889250"/>
            <a:ext cx="212173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A12"/>
                </a:solidFill>
                <a:latin typeface="Be Vietnam Pro" pitchFamily="34" charset="0"/>
                <a:ea typeface="Be Vietnam Pro" pitchFamily="34" charset="-122"/>
                <a:cs typeface="Be Vietnam Pro" pitchFamily="34" charset="-120"/>
              </a:rPr>
              <a:t>20/11</a:t>
            </a:r>
            <a:endParaRPr lang="en-US" sz="2200" dirty="0"/>
          </a:p>
        </p:txBody>
      </p:sp>
      <p:sp>
        <p:nvSpPr>
          <p:cNvPr id="9" name="Text 7"/>
          <p:cNvSpPr/>
          <p:nvPr/>
        </p:nvSpPr>
        <p:spPr>
          <a:xfrm>
            <a:off x="3726180" y="3356611"/>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3748"/>
                </a:solidFill>
                <a:latin typeface="Be Vietnam Pro" pitchFamily="34" charset="0"/>
                <a:ea typeface="Be Vietnam Pro" pitchFamily="34" charset="-122"/>
                <a:cs typeface="Be Vietnam Pro" pitchFamily="34" charset="-120"/>
              </a:rPr>
              <a:t>Nộp tài liệu thiết kế cho Giảng viên, 08:00–17:30</a:t>
            </a:r>
            <a:endParaRPr lang="en-US" sz="1300" dirty="0"/>
          </a:p>
        </p:txBody>
      </p:sp>
      <p:sp>
        <p:nvSpPr>
          <p:cNvPr id="10" name="Shape 8"/>
          <p:cNvSpPr/>
          <p:nvPr/>
        </p:nvSpPr>
        <p:spPr>
          <a:xfrm>
            <a:off x="6175375" y="2658746"/>
            <a:ext cx="2520950" cy="1621790"/>
          </a:xfrm>
          <a:prstGeom prst="roundRect">
            <a:avLst>
              <a:gd name="adj" fmla="val 6069"/>
            </a:avLst>
          </a:prstGeom>
          <a:solidFill>
            <a:srgbClr val="FFFFFF"/>
          </a:solidFill>
          <a:ln w="6350">
            <a:solidFill>
              <a:srgbClr val="E2DED3"/>
            </a:solidFill>
            <a:prstDash val="solid"/>
          </a:ln>
        </p:spPr>
      </p:sp>
      <p:sp>
        <p:nvSpPr>
          <p:cNvPr id="11" name="Text 9"/>
          <p:cNvSpPr/>
          <p:nvPr/>
        </p:nvSpPr>
        <p:spPr>
          <a:xfrm>
            <a:off x="6405880" y="2889250"/>
            <a:ext cx="212173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A12"/>
                </a:solidFill>
                <a:latin typeface="Be Vietnam Pro" pitchFamily="34" charset="0"/>
                <a:ea typeface="Be Vietnam Pro" pitchFamily="34" charset="-122"/>
                <a:cs typeface="Be Vietnam Pro" pitchFamily="34" charset="-120"/>
              </a:rPr>
              <a:t>02/12</a:t>
            </a:r>
            <a:endParaRPr lang="en-US" sz="2200" dirty="0"/>
          </a:p>
        </p:txBody>
      </p:sp>
      <p:sp>
        <p:nvSpPr>
          <p:cNvPr id="12" name="Text 10"/>
          <p:cNvSpPr/>
          <p:nvPr/>
        </p:nvSpPr>
        <p:spPr>
          <a:xfrm>
            <a:off x="6405880" y="3356611"/>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3748"/>
                </a:solidFill>
                <a:latin typeface="Be Vietnam Pro" pitchFamily="34" charset="0"/>
                <a:ea typeface="Be Vietnam Pro" pitchFamily="34" charset="-122"/>
                <a:cs typeface="Be Vietnam Pro" pitchFamily="34" charset="-120"/>
              </a:rPr>
              <a:t>Nộp đồ án hoàn thành, 08:00–17:30</a:t>
            </a:r>
            <a:endParaRPr lang="en-US" sz="1300" dirty="0"/>
          </a:p>
        </p:txBody>
      </p:sp>
      <p:sp>
        <p:nvSpPr>
          <p:cNvPr id="13" name="Shape 11"/>
          <p:cNvSpPr/>
          <p:nvPr/>
        </p:nvSpPr>
        <p:spPr>
          <a:xfrm>
            <a:off x="8851900" y="2655571"/>
            <a:ext cx="2527300" cy="1628140"/>
          </a:xfrm>
          <a:prstGeom prst="roundRect">
            <a:avLst>
              <a:gd name="adj" fmla="val 6240"/>
            </a:avLst>
          </a:prstGeom>
          <a:solidFill>
            <a:srgbClr val="14213D"/>
          </a:solidFill>
          <a:ln/>
        </p:spPr>
      </p:sp>
      <p:sp>
        <p:nvSpPr>
          <p:cNvPr id="14" name="Text 12"/>
          <p:cNvSpPr/>
          <p:nvPr/>
        </p:nvSpPr>
        <p:spPr>
          <a:xfrm>
            <a:off x="9080500" y="2884171"/>
            <a:ext cx="213220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0892B"/>
                </a:solidFill>
                <a:latin typeface="Be Vietnam Pro" pitchFamily="34" charset="0"/>
                <a:ea typeface="Be Vietnam Pro" pitchFamily="34" charset="-122"/>
                <a:cs typeface="Be Vietnam Pro" pitchFamily="34" charset="-120"/>
              </a:rPr>
              <a:t>05/12</a:t>
            </a:r>
            <a:endParaRPr lang="en-US" sz="2200" dirty="0"/>
          </a:p>
        </p:txBody>
      </p:sp>
      <p:sp>
        <p:nvSpPr>
          <p:cNvPr id="15" name="Text 13"/>
          <p:cNvSpPr/>
          <p:nvPr/>
        </p:nvSpPr>
        <p:spPr>
          <a:xfrm>
            <a:off x="9080500" y="3351532"/>
            <a:ext cx="213220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Be Vietnam Pro" pitchFamily="34" charset="0"/>
                <a:ea typeface="Be Vietnam Pro" pitchFamily="34" charset="-122"/>
                <a:cs typeface="Be Vietnam Pro" pitchFamily="34" charset="-120"/>
              </a:rPr>
              <a:t>Bảo vệ đồ án, 13:30</a:t>
            </a:r>
            <a:endParaRPr lang="en-US" sz="1300" dirty="0"/>
          </a:p>
        </p:txBody>
      </p:sp>
      <p:sp>
        <p:nvSpPr>
          <p:cNvPr id="16" name="Text 14"/>
          <p:cNvSpPr/>
          <p:nvPr/>
        </p:nvSpPr>
        <p:spPr>
          <a:xfrm>
            <a:off x="812800" y="5346700"/>
            <a:ext cx="9156700"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14213D"/>
                </a:solidFill>
                <a:latin typeface="Be Vietnam Pro" pitchFamily="34" charset="0"/>
                <a:ea typeface="Be Vietnam Pro" pitchFamily="34" charset="-122"/>
                <a:cs typeface="Be Vietnam Pro" pitchFamily="34" charset="-120"/>
              </a:rPr>
              <a:t>Nhóm mong nhận góp ý của Thầy về tài liệu Review 1 và Review 2.</a:t>
            </a:r>
            <a:endParaRPr lang="en-US" sz="2200" dirty="0"/>
          </a:p>
        </p:txBody>
      </p:sp>
    </p:spTree>
  </p:cSld>
  <p:clrMapOvr>
    <a:masterClrMapping/>
  </p:clrMapOvr>
</p:sld>
</file>

<file path=ppt/theme/theme1.xml><?xml version="1.0" encoding="utf-8"?>
<a:theme xmlns:a="http://schemas.openxmlformats.org/drawingml/2006/main" name="EduCenter HKII: Báo cáo tiến độ">
  <a:themeElements>
    <a:clrScheme name="EduCenter HKII: Báo cáo tiến độ">
      <a:dk1>
        <a:srgbClr val="14213D"/>
      </a:dk1>
      <a:lt1>
        <a:srgbClr val="F4F1EA"/>
      </a:lt1>
      <a:dk2>
        <a:srgbClr val="4C5568"/>
      </a:dk2>
      <a:lt2>
        <a:srgbClr val="DEDCD9"/>
      </a:lt2>
      <a:accent1>
        <a:srgbClr val="C26A12"/>
      </a:accent1>
      <a:accent2>
        <a:srgbClr val="E0892B"/>
      </a:accent2>
      <a:accent3>
        <a:srgbClr val="4F46E5"/>
      </a:accent3>
      <a:accent4>
        <a:srgbClr val="003366"/>
      </a:accent4>
      <a:accent5>
        <a:srgbClr val="8E9BB5"/>
      </a:accent5>
      <a:accent6>
        <a:srgbClr val="C9D2E3"/>
      </a:accent6>
      <a:hlink>
        <a:srgbClr val="0563C1"/>
      </a:hlink>
      <a:folHlink>
        <a:srgbClr val="954F72"/>
      </a:folHlink>
    </a:clrScheme>
    <a:fontScheme name="EduCenter HKII: Báo cáo tiến độ">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EduCenter HKII: Báo cáo tiến độ</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2026-10-23T04:27:12Z</dcterms:created>
  <dcterms:modified xsi:type="dcterms:W3CDTF">2026-10-23T04:27:12Z</dcterms:modified>
</cp:coreProperties>
</file>